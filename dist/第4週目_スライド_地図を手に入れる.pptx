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今日は新しいプログラムを書きません。先週、8割の人が難しいと手を挙げました。それは地図を渡さずに歩かせた進め方のせいです。今日は地図を1枚渡します。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新しいことは足しません。これまでの3回を、1枚の地図の上に置き直すだけです。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強調するのは1点だけ。お客さんは厨房に入らない。注文票を出して頼むしかない。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3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赤い破線を指して：システムプログラミングとは、この線をまたぐ注文票を自分で書くこと。管理者（root）でも、プログラムである限り注文票を出します。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4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左の1文を全員で読みます。第2・3週目の1文が、どちらも「窓口」の話だったことに気づかせます。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5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年号は覚えなくてよい。言うのは3つ：Unix は C で書き直された／GNU は道具を揃えたがカーネルが無かった／21歳の学生が趣味で公開したカーネルが Linux。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6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課題2の A-1 の伏線です。厨房の名前と、お店のブランドは別物。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7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どちらが良い悪いではない、と先に言う。Raymond 自身、最初は「大事なソフトは伽藍でしか作れない」と思っていた人です。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8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今日の課題との対応だけ示します。教訓1→課題3、教訓8→課題2。教訓8は第5週目でもう一度使います。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9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「AIは間違えるとき、正しいときと同じ口調で間違えます。だから、地図を持っていて、自分で打って確かめられる人が要ります。この授業は、その人になるための授業です。」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10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ここで全員に Copilot Chat を開かせ、「ls コマンドは何をしますか。1文で答えてください。」と打たせる。開けない人の数を挙手で数える。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課題2は削らない。時間が押したら課題3を宿題に回す。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1つずつ打たせて、何段目かを15秒予想させる。答えは次のスライド（授業資料の「答え」の折り畳みにもある）。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13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最後の囲みを全体に向けて1回読み上げてから課題2へ。第2週目の1文とつながる。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14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A組＝学籍番号の末尾が奇数、B組＝偶数。カードは授業資料の課題2にある。○×ボタンは自分用で保存されない。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15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★課題2が終わってから映すこと。B-2 では「失敗は 1」と書き直す学生が出るので、0以外であって1とは限らない（ls は 2）を必ず拾う。第5週目の return 1 の伏線。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16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出てきたコマンドを1語ずつ説明できるかを必ず確かめる。説明できない語は、その語だけ Copilot に聞き直させる。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17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C列の4・5が半分を切れば、第3週目より易しくできた。D列が今日の本命。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18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課題Bは任意。見つからなかった場合も、何回・どんな聞き方をしたかを書けば提出として認める。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19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最後に全員で声に出して読みます。これが今週の軸文です。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20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 alt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91440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spc="200" kern="0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システムプログラミング ／ 第 4 週目</a:t>
            </a:r>
            <a:endParaRPr lang="ja-JP" alt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98448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56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地図を手に入れる</a:t>
            </a:r>
            <a:endParaRPr lang="ja-JP" altLang="en-US" sz="5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3317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600" dirty="0">
                <a:solidFill>
                  <a:srgbClr val="5FA8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Linux・バザール・AI</a:t>
            </a:r>
            <a:endParaRPr lang="ja-JP" alt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2971800"/>
            <a:ext cx="1280160" cy="54864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48640" y="3154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ja-JP" altLang="en-US" sz="22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コマンドの向こうには、カーネルがいる。</a:t>
            </a:r>
            <a:endParaRPr lang="ja-JP" altLang="en-US" sz="2200" dirty="0"/>
          </a:p>
          <a:p>
            <a:pPr indent="0" marL="0">
              <a:lnSpc>
                <a:spcPct val="140000"/>
              </a:lnSpc>
              <a:buNone/>
            </a:pPr>
            <a:r>
              <a:rPr lang="ja-JP" altLang="en-US" sz="22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AIの答えは、自分の手で確かめる。</a:t>
            </a:r>
            <a:endParaRPr lang="ja-JP" altLang="en-US" sz="2200" dirty="0"/>
          </a:p>
        </p:txBody>
      </p:sp>
      <p:sp>
        <p:nvSpPr>
          <p:cNvPr id="8" name="card"/>
          <p:cNvSpPr/>
          <p:nvPr/>
        </p:nvSpPr>
        <p:spPr>
          <a:xfrm>
            <a:off x="548640" y="4434840"/>
            <a:ext cx="3566160" cy="1234440"/>
          </a:xfrm>
          <a:prstGeom prst="roundRect">
            <a:avLst>
              <a:gd name="adj" fmla="val 5185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9808" y="4590288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90分</a:t>
            </a:r>
            <a:endParaRPr lang="ja-JP" alt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4901184"/>
            <a:ext cx="31638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講義25 ／ 課題45 ／ 共有15</a:t>
            </a:r>
            <a:endParaRPr lang="ja-JP" altLang="en-US" sz="1500" dirty="0"/>
          </a:p>
        </p:txBody>
      </p:sp>
      <p:sp>
        <p:nvSpPr>
          <p:cNvPr id="11" name="card"/>
          <p:cNvSpPr/>
          <p:nvPr/>
        </p:nvSpPr>
        <p:spPr>
          <a:xfrm>
            <a:off x="4297680" y="4434840"/>
            <a:ext cx="3566160" cy="1234440"/>
          </a:xfrm>
          <a:prstGeom prst="roundRect">
            <a:avLst>
              <a:gd name="adj" fmla="val 5185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498848" y="4590288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環境</a:t>
            </a:r>
            <a:endParaRPr lang="ja-JP" alt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4498848" y="4901184"/>
            <a:ext cx="31638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ターミナル ／ Copilot Chat</a:t>
            </a:r>
            <a:endParaRPr lang="ja-JP" altLang="en-US" sz="1500" dirty="0"/>
          </a:p>
          <a:p>
            <a:pPr indent="0" marL="0">
              <a:buNone/>
            </a:pPr>
            <a:r>
              <a:rPr lang="ja-JP" altLang="en-US" sz="15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 は書かない</a:t>
            </a:r>
            <a:endParaRPr lang="ja-JP" altLang="en-US" sz="1500" dirty="0"/>
          </a:p>
        </p:txBody>
      </p:sp>
      <p:sp>
        <p:nvSpPr>
          <p:cNvPr id="14" name="card"/>
          <p:cNvSpPr/>
          <p:nvPr/>
        </p:nvSpPr>
        <p:spPr>
          <a:xfrm>
            <a:off x="8046720" y="4434840"/>
            <a:ext cx="3566160" cy="1234440"/>
          </a:xfrm>
          <a:prstGeom prst="roundRect">
            <a:avLst>
              <a:gd name="adj" fmla="val 5185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47888" y="4590288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教材</a:t>
            </a:r>
            <a:endParaRPr lang="ja-JP" alt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8247888" y="4901184"/>
            <a:ext cx="31638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Linux標準教科書 1章</a:t>
            </a:r>
            <a:endParaRPr lang="ja-JP" altLang="en-US" sz="1500" dirty="0"/>
          </a:p>
          <a:p>
            <a:pPr indent="0" marL="0">
              <a:buNone/>
            </a:pPr>
            <a:r>
              <a:rPr lang="ja-JP" altLang="en-US" sz="15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伽藍とバザール 1〜4節</a:t>
            </a:r>
            <a:endParaRPr lang="ja-JP" alt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A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685800"/>
            <a:ext cx="11064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ja-JP" altLang="en-US" sz="44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今日は、新しいプログラムを書かない。</a:t>
            </a:r>
            <a:endParaRPr lang="ja-JP" altLang="en-US" sz="4400" dirty="0"/>
          </a:p>
          <a:p>
            <a:pPr indent="0" marL="0">
              <a:lnSpc>
                <a:spcPct val="125000"/>
              </a:lnSpc>
              <a:buNone/>
            </a:pPr>
            <a:r>
              <a:rPr lang="ja-JP" altLang="en-US" sz="44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地図を1枚、渡す。</a:t>
            </a:r>
            <a:endParaRPr lang="ja-JP" altLang="en-US" sz="4400" dirty="0"/>
          </a:p>
        </p:txBody>
      </p:sp>
      <p:sp>
        <p:nvSpPr>
          <p:cNvPr id="4" name="card"/>
          <p:cNvSpPr/>
          <p:nvPr/>
        </p:nvSpPr>
        <p:spPr>
          <a:xfrm>
            <a:off x="548640" y="2651760"/>
            <a:ext cx="5394960" cy="1920240"/>
          </a:xfrm>
          <a:prstGeom prst="roundRect">
            <a:avLst>
              <a:gd name="adj" fmla="val 3333"/>
            </a:avLst>
          </a:prstGeom>
          <a:solidFill>
            <a:srgbClr val="1C2027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49808" y="2834640"/>
            <a:ext cx="4992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b="1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第3週目</a:t>
            </a:r>
            <a:endParaRPr lang="ja-JP" alt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749808" y="3108960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0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8割が「難しい」と手を挙げた</a:t>
            </a:r>
            <a:endParaRPr lang="ja-JP" alt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49808" y="3529584"/>
            <a:ext cx="49926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6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どこを歩いているか分からないまま歩いていたから。皆さんのせいではない</a:t>
            </a:r>
            <a:endParaRPr lang="ja-JP" altLang="en-US" sz="1600" dirty="0"/>
          </a:p>
        </p:txBody>
      </p:sp>
      <p:sp>
        <p:nvSpPr>
          <p:cNvPr id="8" name="card"/>
          <p:cNvSpPr/>
          <p:nvPr/>
        </p:nvSpPr>
        <p:spPr>
          <a:xfrm>
            <a:off x="6217920" y="2651760"/>
            <a:ext cx="5394960" cy="1920240"/>
          </a:xfrm>
          <a:prstGeom prst="roundRect">
            <a:avLst>
              <a:gd name="adj" fmla="val 3333"/>
            </a:avLst>
          </a:prstGeom>
          <a:solidFill>
            <a:srgbClr val="1C2027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19088" y="2834640"/>
            <a:ext cx="4992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b="1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今日</a:t>
            </a:r>
            <a:endParaRPr lang="ja-JP" alt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6419088" y="3108960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0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全体像を手に入れる</a:t>
            </a:r>
            <a:endParaRPr lang="ja-JP" alt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6419088" y="3529584"/>
            <a:ext cx="49926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6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4段の地図・Linux はどこから来たか・AI の答えを確かめる練習</a:t>
            </a:r>
            <a:endParaRPr lang="ja-JP" alt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846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700" dirty="0">
                <a:solidFill>
                  <a:srgbClr val="5A3D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open や read を書くのは来週から。今日はその「場所」を知る回。</a:t>
            </a:r>
            <a:endParaRPr lang="ja-JP" alt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38404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0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レストランで考える</a:t>
            </a:r>
            <a:endParaRPr lang="ja-JP" alt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80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カレーを頼むとき、厨房に入って自分で作ったりはしない。</a:t>
            </a:r>
            <a:endParaRPr lang="ja-JP" alt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48640" y="1920240"/>
            <a:ext cx="2423160" cy="1920240"/>
          </a:xfrm>
          <a:prstGeom prst="roundRect">
            <a:avLst>
              <a:gd name="adj" fmla="val 3333"/>
            </a:avLst>
          </a:prstGeom>
          <a:solidFill>
            <a:srgbClr val="EDE8DC"/>
          </a:solidFill>
          <a:ln w="19050">
            <a:solidFill>
              <a:srgbClr val="D8D2C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21488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21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お客さん</a:t>
            </a:r>
            <a:endParaRPr lang="ja-JP" alt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6974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ja-JP" altLang="en-US" sz="150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メニューを見て注文する</a:t>
            </a:r>
            <a:endParaRPr lang="ja-JP" alt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026664" y="2788920"/>
            <a:ext cx="347472" cy="201168"/>
          </a:xfrm>
          <a:prstGeom prst="rightArrow">
            <a:avLst/>
          </a:prstGeom>
          <a:solidFill>
            <a:srgbClr val="5A627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29000" y="1920240"/>
            <a:ext cx="2423160" cy="1920240"/>
          </a:xfrm>
          <a:prstGeom prst="roundRect">
            <a:avLst>
              <a:gd name="adj" fmla="val 3333"/>
            </a:avLst>
          </a:prstGeom>
          <a:solidFill>
            <a:srgbClr val="EDE8DC"/>
          </a:solidFill>
          <a:ln w="19050">
            <a:solidFill>
              <a:srgbClr val="D8D2C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566160" y="21488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21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ウェイター</a:t>
            </a:r>
            <a:endParaRPr lang="ja-JP" alt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3566160" y="26974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ja-JP" altLang="en-US" sz="150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注文を受けて、厨房に伝える</a:t>
            </a:r>
            <a:endParaRPr lang="ja-JP" alt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907024" y="2788920"/>
            <a:ext cx="347472" cy="201168"/>
          </a:xfrm>
          <a:prstGeom prst="rightArrow">
            <a:avLst/>
          </a:prstGeom>
          <a:solidFill>
            <a:srgbClr val="BE3E1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9360" y="1920240"/>
            <a:ext cx="2423160" cy="1920240"/>
          </a:xfrm>
          <a:prstGeom prst="roundRect">
            <a:avLst>
              <a:gd name="adj" fmla="val 3333"/>
            </a:avLst>
          </a:prstGeom>
          <a:solidFill>
            <a:srgbClr val="E8A317"/>
          </a:solidFill>
          <a:ln w="19050">
            <a:solidFill>
              <a:srgbClr val="8A620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46520" y="21488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21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厨房</a:t>
            </a:r>
            <a:endParaRPr lang="ja-JP" altLang="en-US" sz="2100" dirty="0"/>
          </a:p>
        </p:txBody>
      </p:sp>
      <p:sp>
        <p:nvSpPr>
          <p:cNvPr id="15" name="Text 12"/>
          <p:cNvSpPr txBox="1"/>
          <p:nvPr/>
        </p:nvSpPr>
        <p:spPr>
          <a:xfrm>
            <a:off x="6446520" y="26974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ja-JP" altLang="en-US" sz="1500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注文票を受けて、料理を作る</a:t>
            </a:r>
            <a:endParaRPr lang="ja-JP" alt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787384" y="2788920"/>
            <a:ext cx="347472" cy="201168"/>
          </a:xfrm>
          <a:prstGeom prst="rightArrow">
            <a:avLst/>
          </a:prstGeom>
          <a:solidFill>
            <a:srgbClr val="5A627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189720" y="1920240"/>
            <a:ext cx="2423160" cy="1920240"/>
          </a:xfrm>
          <a:prstGeom prst="roundRect">
            <a:avLst>
              <a:gd name="adj" fmla="val 3333"/>
            </a:avLst>
          </a:prstGeom>
          <a:solidFill>
            <a:srgbClr val="EDE8DC"/>
          </a:solidFill>
          <a:ln w="19050">
            <a:solidFill>
              <a:srgbClr val="D8D2C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326880" y="21488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21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食材庫・調理器具</a:t>
            </a:r>
            <a:endParaRPr lang="ja-JP" altLang="en-US" sz="2100" dirty="0"/>
          </a:p>
        </p:txBody>
      </p:sp>
      <p:sp>
        <p:nvSpPr>
          <p:cNvPr id="19" name="Text 16"/>
          <p:cNvSpPr txBox="1"/>
          <p:nvPr/>
        </p:nvSpPr>
        <p:spPr>
          <a:xfrm>
            <a:off x="9326880" y="26974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ja-JP" altLang="en-US" sz="150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お客さんは直接さわれない</a:t>
            </a:r>
            <a:endParaRPr lang="ja-JP" alt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5074920" y="148132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500" b="1" dirty="0">
                <a:solidFill>
                  <a:srgbClr val="BE3E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注文票</a:t>
            </a:r>
            <a:endParaRPr lang="ja-JP" alt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5532120" y="1847088"/>
            <a:ext cx="182880" cy="868680"/>
          </a:xfrm>
          <a:prstGeom prst="downArrow">
            <a:avLst/>
          </a:prstGeom>
          <a:solidFill>
            <a:srgbClr val="BE3E1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48640" y="4206240"/>
            <a:ext cx="11064240" cy="1097280"/>
          </a:xfrm>
          <a:prstGeom prst="roundRect">
            <a:avLst>
              <a:gd name="adj" fmla="val 5833"/>
            </a:avLst>
          </a:prstGeom>
          <a:solidFill>
            <a:srgbClr val="1C2027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68680" y="437083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200" b="1" dirty="0">
                <a:solidFill>
                  <a:srgbClr val="E8A3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コンピューターも、これと同じ4段でできている</a:t>
            </a:r>
            <a:endParaRPr lang="ja-JP" altLang="en-US" sz="2200" dirty="0"/>
          </a:p>
        </p:txBody>
      </p:sp>
      <p:sp>
        <p:nvSpPr>
          <p:cNvPr id="24" name="Text 21"/>
          <p:cNvSpPr txBox="1"/>
          <p:nvPr/>
        </p:nvSpPr>
        <p:spPr>
          <a:xfrm>
            <a:off x="868680" y="4828032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ウェイターは厨房に注文票を出すしかない。プログラムも、カーネルに頼むしかない。</a:t>
            </a:r>
            <a:endParaRPr lang="ja-JP" alt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38404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0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この授業の地図 ── 4段</a:t>
            </a:r>
            <a:endParaRPr lang="ja-JP" alt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80160"/>
            <a:ext cx="640080" cy="713232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24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1</a:t>
            </a:r>
            <a:endParaRPr lang="ja-JP" alt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325880" y="1280160"/>
            <a:ext cx="7315200" cy="713232"/>
          </a:xfrm>
          <a:prstGeom prst="roundRect">
            <a:avLst>
              <a:gd name="adj" fmla="val 6410"/>
            </a:avLst>
          </a:prstGeom>
          <a:solidFill>
            <a:srgbClr val="141820"/>
          </a:solidFill>
          <a:ln w="15240">
            <a:solidFill>
              <a:srgbClr val="2E364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508760" y="1353312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あなた（ユーザー）</a:t>
            </a:r>
            <a:endParaRPr lang="ja-JP" alt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66420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キーボードで打ち、画面を見る</a:t>
            </a:r>
            <a:endParaRPr lang="ja-JP" alt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778240" y="1280160"/>
            <a:ext cx="2834640" cy="713232"/>
          </a:xfrm>
          <a:prstGeom prst="rect">
            <a:avLst/>
          </a:prstGeom>
          <a:solidFill>
            <a:srgbClr val="3A2D0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700" b="1" dirty="0">
                <a:solidFill>
                  <a:srgbClr val="E8A3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お客さん</a:t>
            </a:r>
            <a:endParaRPr lang="ja-JP" alt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121408"/>
            <a:ext cx="640080" cy="713232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24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2</a:t>
            </a:r>
            <a:endParaRPr lang="ja-JP" alt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1325880" y="2121408"/>
            <a:ext cx="7315200" cy="713232"/>
          </a:xfrm>
          <a:prstGeom prst="roundRect">
            <a:avLst>
              <a:gd name="adj" fmla="val 6410"/>
            </a:avLst>
          </a:prstGeom>
          <a:solidFill>
            <a:srgbClr val="141820"/>
          </a:solidFill>
          <a:ln w="15240">
            <a:solidFill>
              <a:srgbClr val="2E364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508760" y="219456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コマンドとシェル</a:t>
            </a:r>
            <a:endParaRPr lang="ja-JP" alt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508760" y="2505456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ls ・ wc ・ bash ・ あなたが書いた C</a:t>
            </a:r>
            <a:endParaRPr lang="ja-JP" alt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778240" y="2121408"/>
            <a:ext cx="2834640" cy="713232"/>
          </a:xfrm>
          <a:prstGeom prst="rect">
            <a:avLst/>
          </a:prstGeom>
          <a:solidFill>
            <a:srgbClr val="3A2D0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700" b="1" dirty="0">
                <a:solidFill>
                  <a:srgbClr val="E8A3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ウェイター</a:t>
            </a:r>
            <a:endParaRPr lang="ja-JP" alt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3529584"/>
            <a:ext cx="640080" cy="713232"/>
          </a:xfrm>
          <a:prstGeom prst="rect">
            <a:avLst/>
          </a:prstGeom>
          <a:solidFill>
            <a:srgbClr val="1668B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24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3</a:t>
            </a:r>
            <a:endParaRPr lang="ja-JP" alt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1325880" y="3529584"/>
            <a:ext cx="7315200" cy="713232"/>
          </a:xfrm>
          <a:prstGeom prst="roundRect">
            <a:avLst>
              <a:gd name="adj" fmla="val 6410"/>
            </a:avLst>
          </a:prstGeom>
          <a:solidFill>
            <a:srgbClr val="1668B5"/>
          </a:solidFill>
          <a:ln w="15240">
            <a:solidFill>
              <a:srgbClr val="5FA8E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508760" y="3602736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カーネル（これが Linux）</a:t>
            </a:r>
            <a:endParaRPr lang="ja-JP" alt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508760" y="391363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dirty="0">
                <a:solidFill>
                  <a:srgbClr val="DCEB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ファイル・メモリ・画面を全員分まとめて管理</a:t>
            </a:r>
            <a:endParaRPr lang="ja-JP" alt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778240" y="3529584"/>
            <a:ext cx="2834640" cy="713232"/>
          </a:xfrm>
          <a:prstGeom prst="rect">
            <a:avLst/>
          </a:prstGeom>
          <a:solidFill>
            <a:srgbClr val="E8A31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7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厨房</a:t>
            </a:r>
            <a:endParaRPr lang="ja-JP" alt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4370832"/>
            <a:ext cx="640080" cy="713232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24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4</a:t>
            </a:r>
            <a:endParaRPr lang="ja-JP" altLang="en-US" sz="2400" dirty="0"/>
          </a:p>
        </p:txBody>
      </p:sp>
      <p:sp>
        <p:nvSpPr>
          <p:cNvPr id="20" name="Shape 17"/>
          <p:cNvSpPr/>
          <p:nvPr/>
        </p:nvSpPr>
        <p:spPr>
          <a:xfrm>
            <a:off x="1325880" y="4370832"/>
            <a:ext cx="7315200" cy="713232"/>
          </a:xfrm>
          <a:prstGeom prst="roundRect">
            <a:avLst>
              <a:gd name="adj" fmla="val 6410"/>
            </a:avLst>
          </a:prstGeom>
          <a:solidFill>
            <a:srgbClr val="141820"/>
          </a:solidFill>
          <a:ln w="15240">
            <a:solidFill>
              <a:srgbClr val="2E364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508760" y="4443984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ハードウェア</a:t>
            </a:r>
            <a:endParaRPr lang="ja-JP" alt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1508760" y="47548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CPU ・ メモリ ・ ディスク ・ 画面</a:t>
            </a:r>
            <a:endParaRPr lang="ja-JP" alt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778240" y="4370832"/>
            <a:ext cx="2834640" cy="713232"/>
          </a:xfrm>
          <a:prstGeom prst="rect">
            <a:avLst/>
          </a:prstGeom>
          <a:solidFill>
            <a:srgbClr val="3A2D0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700" b="1" dirty="0">
                <a:solidFill>
                  <a:srgbClr val="E8A3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食材庫</a:t>
            </a:r>
            <a:endParaRPr lang="ja-JP" alt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1325880" y="2926080"/>
            <a:ext cx="10287000" cy="512064"/>
          </a:xfrm>
          <a:prstGeom prst="rect">
            <a:avLst/>
          </a:prstGeom>
          <a:solidFill>
            <a:srgbClr val="3A1A10"/>
          </a:solidFill>
          <a:ln w="19050">
            <a:solidFill>
              <a:srgbClr val="BE3E1B"/>
            </a:solidFill>
            <a:prstDash val="dash"/>
          </a:ln>
        </p:spPr>
      </p:sp>
      <p:sp>
        <p:nvSpPr>
          <p:cNvPr id="25" name="Text 22"/>
          <p:cNvSpPr txBox="1"/>
          <p:nvPr/>
        </p:nvSpPr>
        <p:spPr>
          <a:xfrm>
            <a:off x="1508760" y="2926080"/>
            <a:ext cx="9966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50" b="1" dirty="0">
                <a:solidFill>
                  <a:srgbClr val="F2C7B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窓口 ── システムコール（注文票）　</a:t>
            </a:r>
            <a:pPr indent="0" marL="0">
              <a:buNone/>
            </a:pPr>
            <a:r>
              <a:rPr lang="ja-JP" altLang="en-US" sz="1550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open ・ read ・ write …</a:t>
            </a:r>
            <a:endParaRPr lang="ja-JP" altLang="en-US" sz="1550" dirty="0"/>
          </a:p>
        </p:txBody>
      </p:sp>
      <p:sp>
        <p:nvSpPr>
          <p:cNvPr id="26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システムプログラミング ＝ 2段目から3段目への「注文票」を、自分で書くこと　（Molay 1章の図をたとえに置き直したもの）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38404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0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これまでの3回を、地図に置く</a:t>
            </a:r>
            <a:endParaRPr lang="ja-JP" altLang="en-US" sz="3000" dirty="0"/>
          </a:p>
        </p:txBody>
      </p:sp>
      <p:graphicFrame>
        <p:nvGraphicFramePr>
          <p:cNvPr id="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852160"/>
                <a:gridCol w="3840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回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そのときの1文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地図で言うと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第2週目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プログラムは、装置に直結していない。すべての出入りは、カーネルという1点を通っている。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2段目は4段目に直接さわれない。窓口は1つ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第3週目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プログラムは、自分のつなぎ先を知らない。しかし、カーネルに聞けば教えてもらえる。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パイプはカーネルがつないだ管。isatty は窓口への質問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8A6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第4週目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コマンドの向こうには、カーネルがいる。AIの答えは、自分の手で確かめる。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地図そのものを手に入れる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第5週目〜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（予告）open ・ read ・ write を自分で呼ぶ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注文票を自分で書く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第2週目も第3週目も、2段目と3段目の境目（窓口）の話だった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38404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0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Linux はどこから来たか</a:t>
            </a:r>
            <a:endParaRPr lang="ja-JP" alt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1847088" y="1325880"/>
            <a:ext cx="45720" cy="4206240"/>
          </a:xfrm>
          <a:prstGeom prst="rect">
            <a:avLst/>
          </a:prstGeom>
          <a:solidFill>
            <a:srgbClr val="2E3643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8640" y="12801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100" b="1" dirty="0">
                <a:solidFill>
                  <a:srgbClr val="5FA8E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1969</a:t>
            </a:r>
            <a:endParaRPr lang="ja-JP" alt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1755648" y="1389888"/>
            <a:ext cx="228600" cy="228600"/>
          </a:xfrm>
          <a:prstGeom prst="ellipse">
            <a:avLst/>
          </a:prstGeom>
          <a:solidFill>
            <a:srgbClr val="5FA8E6"/>
          </a:solidFill>
          <a:ln w="25400">
            <a:solidFill>
              <a:srgbClr val="1C202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240280" y="1280160"/>
            <a:ext cx="9372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9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Unix が生まれる</a:t>
            </a:r>
            <a:endParaRPr lang="ja-JP" alt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2240280" y="1682496"/>
            <a:ext cx="9372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数年後に C 言語で書き直される ── この授業が C を使う理由</a:t>
            </a:r>
            <a:endParaRPr lang="ja-JP" alt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35915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100" b="1" dirty="0">
                <a:solidFill>
                  <a:srgbClr val="5FA8E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1983</a:t>
            </a:r>
            <a:endParaRPr lang="ja-JP" alt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1755648" y="2468880"/>
            <a:ext cx="228600" cy="228600"/>
          </a:xfrm>
          <a:prstGeom prst="ellipse">
            <a:avLst/>
          </a:prstGeom>
          <a:solidFill>
            <a:srgbClr val="5FA8E6"/>
          </a:solidFill>
          <a:ln w="25400">
            <a:solidFill>
              <a:srgbClr val="1C202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240280" y="2359152"/>
            <a:ext cx="9372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9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GNU 計画</a:t>
            </a:r>
            <a:endParaRPr lang="ja-JP" alt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2240280" y="2761488"/>
            <a:ext cx="9372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誰でも自由に使えるソフトで Unix を作る。道具（gcc など）は揃ったが、カーネルがなかなか完成しない</a:t>
            </a:r>
            <a:endParaRPr lang="ja-JP" alt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3438144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100" b="1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1991</a:t>
            </a:r>
            <a:endParaRPr lang="ja-JP" alt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1755648" y="3547872"/>
            <a:ext cx="228600" cy="228600"/>
          </a:xfrm>
          <a:prstGeom prst="ellipse">
            <a:avLst/>
          </a:prstGeom>
          <a:solidFill>
            <a:srgbClr val="E8A317"/>
          </a:solidFill>
          <a:ln w="25400">
            <a:solidFill>
              <a:srgbClr val="1C202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240280" y="3438144"/>
            <a:ext cx="9372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900" b="1" dirty="0">
                <a:solidFill>
                  <a:srgbClr val="E8A3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リーナス・トーバルズ（21歳）</a:t>
            </a:r>
            <a:endParaRPr lang="ja-JP" alt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2240280" y="3840480"/>
            <a:ext cx="9372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趣味で作ったカーネルをインターネットに公開する。これが Linux</a:t>
            </a:r>
            <a:endParaRPr lang="ja-JP" altLang="en-US" sz="145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4517136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100" b="1" dirty="0">
                <a:solidFill>
                  <a:srgbClr val="5FA8E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いま</a:t>
            </a:r>
            <a:endParaRPr lang="ja-JP" alt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1755648" y="4626864"/>
            <a:ext cx="228600" cy="228600"/>
          </a:xfrm>
          <a:prstGeom prst="ellipse">
            <a:avLst/>
          </a:prstGeom>
          <a:solidFill>
            <a:srgbClr val="5FA8E6"/>
          </a:solidFill>
          <a:ln w="25400">
            <a:solidFill>
              <a:srgbClr val="1C202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240280" y="4517136"/>
            <a:ext cx="9372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9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ディストリビューション</a:t>
            </a:r>
            <a:endParaRPr lang="ja-JP" alt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2240280" y="4919472"/>
            <a:ext cx="9372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Linux カーネル ＋ GNU の道具 ＋ いろいろなソフトをまとめたもの（Ubuntu・AlmaLinux など）</a:t>
            </a:r>
            <a:endParaRPr lang="ja-JP" altLang="en-US" sz="1450" dirty="0"/>
          </a:p>
        </p:txBody>
      </p:sp>
      <p:sp>
        <p:nvSpPr>
          <p:cNvPr id="21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Linux標準教科書 1章 ／ 『伽藍とバザール』の訳では「リーヌス」と表記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38404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0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Linux と Ubuntu は、何が違う？</a:t>
            </a:r>
            <a:endParaRPr lang="ja-JP" alt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280160"/>
            <a:ext cx="5394960" cy="2011680"/>
          </a:xfrm>
          <a:prstGeom prst="roundRect">
            <a:avLst>
              <a:gd name="adj" fmla="val 3182"/>
            </a:avLst>
          </a:prstGeom>
          <a:solidFill>
            <a:srgbClr val="E6F1FB"/>
          </a:solidFill>
          <a:ln w="19050">
            <a:solidFill>
              <a:srgbClr val="1668B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49808" y="1463040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Linux ＝ 厨房（カーネル）</a:t>
            </a:r>
            <a:endParaRPr lang="ja-JP" alt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49808" y="1883664"/>
            <a:ext cx="499262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500" b="1" dirty="0">
                <a:solidFill>
                  <a:srgbClr val="1668B5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$ uname -s
</a:t>
            </a:r>
            <a:pPr indent="0" marL="0">
              <a:lnSpc>
                <a:spcPct val="130000"/>
              </a:lnSpc>
              <a:buNone/>
            </a:pPr>
            <a:r>
              <a:rPr lang="ja-JP" altLang="en-US" sz="1500" dirty="0">
                <a:solidFill>
                  <a:srgbClr val="1C202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Linux
</a:t>
            </a:r>
            <a:pPr indent="0" marL="0">
              <a:lnSpc>
                <a:spcPct val="130000"/>
              </a:lnSpc>
              <a:buNone/>
            </a:pPr>
            <a:r>
              <a:rPr lang="ja-JP" altLang="en-US" sz="150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3段目の名前。uname -r で版（バージョン）も分かる</a:t>
            </a:r>
            <a:endParaRPr lang="ja-JP" altLang="en-US" sz="1500" dirty="0"/>
          </a:p>
        </p:txBody>
      </p:sp>
      <p:sp>
        <p:nvSpPr>
          <p:cNvPr id="7" name="card"/>
          <p:cNvSpPr/>
          <p:nvPr/>
        </p:nvSpPr>
        <p:spPr>
          <a:xfrm>
            <a:off x="6217920" y="1280160"/>
            <a:ext cx="5394960" cy="2011680"/>
          </a:xfrm>
          <a:prstGeom prst="roundRect">
            <a:avLst>
              <a:gd name="adj" fmla="val 3182"/>
            </a:avLst>
          </a:prstGeom>
          <a:solidFill>
            <a:srgbClr val="FDF0D4"/>
          </a:solidFill>
          <a:ln w="19050">
            <a:solidFill>
              <a:srgbClr val="E8A31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19088" y="1463040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Ubuntu ＝ お店のブランド</a:t>
            </a:r>
            <a:endParaRPr lang="ja-JP" alt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419088" y="1883664"/>
            <a:ext cx="499262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500" b="1" dirty="0">
                <a:solidFill>
                  <a:srgbClr val="8A62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$ cat /etc/os-release
</a:t>
            </a:r>
            <a:pPr indent="0" marL="0">
              <a:lnSpc>
                <a:spcPct val="130000"/>
              </a:lnSpc>
              <a:buNone/>
            </a:pPr>
            <a:r>
              <a:rPr lang="ja-JP" altLang="en-US" sz="1500" dirty="0">
                <a:solidFill>
                  <a:srgbClr val="1C202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NAME="Ubuntu"  …
</a:t>
            </a:r>
            <a:pPr indent="0" marL="0">
              <a:lnSpc>
                <a:spcPct val="130000"/>
              </a:lnSpc>
              <a:buNone/>
            </a:pPr>
            <a:r>
              <a:rPr lang="ja-JP" altLang="en-US" sz="150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カーネル＋道具一式をまとめた「ディストリビューション」</a:t>
            </a:r>
            <a:endParaRPr lang="ja-JP" alt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3566160"/>
            <a:ext cx="11064240" cy="1691640"/>
          </a:xfrm>
          <a:prstGeom prst="roundRect">
            <a:avLst>
              <a:gd name="adj" fmla="val 3784"/>
            </a:avLst>
          </a:prstGeom>
          <a:solidFill>
            <a:srgbClr val="1C2027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68680" y="3730752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E8A3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「Linux は地味？」（Linux標準教科書 1.1.2 の要約）</a:t>
            </a:r>
            <a:endParaRPr lang="ja-JP" alt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11480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ja-JP" altLang="en-US" sz="1700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1つ1つのコマンドは小さく地味で、最初は何のために覚えるのか分からない。でも、その小さな組み合わせが、インターネットのような大きなシステムを形作っている。</a:t>
            </a:r>
            <a:endParaRPr lang="ja-JP" altLang="en-US" sz="1700" dirty="0"/>
          </a:p>
        </p:txBody>
      </p:sp>
      <p:sp>
        <p:nvSpPr>
          <p:cNvPr id="13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Linux が動いている場所：サーバー ・ Android ・ 家電 ・ IoT ・ AI のソフトの多く（1.3）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38404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0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伽藍とバザール ── 2つの作り方</a:t>
            </a:r>
            <a:endParaRPr lang="ja-JP" alt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325880"/>
            <a:ext cx="5394960" cy="3017520"/>
          </a:xfrm>
          <a:prstGeom prst="roundRect">
            <a:avLst>
              <a:gd name="adj" fmla="val 2121"/>
            </a:avLst>
          </a:prstGeom>
          <a:solidFill>
            <a:srgbClr val="141820"/>
          </a:solidFill>
          <a:ln w="19050">
            <a:solidFill>
              <a:srgbClr val="5FA8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49808" y="1508760"/>
            <a:ext cx="4992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b="1" dirty="0">
                <a:solidFill>
                  <a:srgbClr val="5FA8E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CATHEDRAL</a:t>
            </a:r>
            <a:endParaRPr lang="ja-JP" alt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749808" y="1783080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2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伽藍（がらん）方式</a:t>
            </a:r>
            <a:endParaRPr lang="ja-JP" alt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49808" y="2203704"/>
            <a:ext cx="4992624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6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大聖堂を建てるように、少人数の名人が、完成するまで外に見せずに静かに作る。</a:t>
            </a:r>
            <a:endParaRPr lang="ja-JP" altLang="en-US" sz="1600" dirty="0"/>
          </a:p>
          <a:p>
            <a:pPr indent="0" marL="0">
              <a:lnSpc>
                <a:spcPct val="130000"/>
              </a:lnSpc>
              <a:buNone/>
            </a:pPr>
            <a:endParaRPr lang="ja-JP" alt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ja-JP" altLang="en-US" sz="16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バグは深く隠れたものと考え、何か月もかけて調べてから出す。</a:t>
            </a:r>
            <a:endParaRPr lang="ja-JP" altLang="en-US" sz="1600" dirty="0"/>
          </a:p>
        </p:txBody>
      </p:sp>
      <p:sp>
        <p:nvSpPr>
          <p:cNvPr id="8" name="card"/>
          <p:cNvSpPr/>
          <p:nvPr/>
        </p:nvSpPr>
        <p:spPr>
          <a:xfrm>
            <a:off x="6217920" y="1325880"/>
            <a:ext cx="5394960" cy="3017520"/>
          </a:xfrm>
          <a:prstGeom prst="roundRect">
            <a:avLst>
              <a:gd name="adj" fmla="val 2121"/>
            </a:avLst>
          </a:prstGeom>
          <a:solidFill>
            <a:srgbClr val="141820"/>
          </a:solidFill>
          <a:ln w="19050">
            <a:solidFill>
              <a:srgbClr val="E8A31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19088" y="1508760"/>
            <a:ext cx="4992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b="1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BAZAAR</a:t>
            </a:r>
            <a:endParaRPr lang="ja-JP" alt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6419088" y="1783080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2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バザール方式</a:t>
            </a:r>
            <a:endParaRPr lang="ja-JP" alt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6419088" y="2203704"/>
            <a:ext cx="4992624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6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にぎやかな市場のように、早めに・しょっちゅう公開して、大勢に使ってもらい、見つけてもらい、直してもらう。</a:t>
            </a:r>
            <a:endParaRPr lang="ja-JP" altLang="en-US" sz="1600" dirty="0"/>
          </a:p>
          <a:p>
            <a:pPr indent="0" marL="0">
              <a:lnSpc>
                <a:spcPct val="130000"/>
              </a:lnSpc>
              <a:buNone/>
            </a:pPr>
            <a:endParaRPr lang="ja-JP" alt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ja-JP" altLang="en-US" sz="16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Linux はこちらで作られた。</a:t>
            </a:r>
            <a:endParaRPr lang="ja-JP" alt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5720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6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Eric S. Raymond『伽藍とバザール』</a:t>
            </a:r>
            <a:pPr indent="0" marL="0">
              <a:lnSpc>
                <a:spcPct val="130000"/>
              </a:lnSpc>
              <a:buNone/>
            </a:pPr>
            <a:r>
              <a:rPr lang="ja-JP" altLang="en-US" sz="16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（山形浩生 訳）は、なぜ Linux がこんなやり方でうまくいったのかを考えた文章</a:t>
            </a:r>
            <a:endParaRPr lang="ja-JP" altLang="en-US" sz="1600" dirty="0"/>
          </a:p>
        </p:txBody>
      </p:sp>
      <p:sp>
        <p:nvSpPr>
          <p:cNvPr id="13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© 2000 YAMAGATA Hiroo. この版権表示を残す限りにおいてこの翻訳は商業利用を含む複製、再配布が自由に認められる。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38404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0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今日読む教訓は3つ</a:t>
            </a:r>
            <a:endParaRPr lang="ja-JP" alt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234440"/>
            <a:ext cx="1106424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234440"/>
            <a:ext cx="91440" cy="1078992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1325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50" b="1" dirty="0">
                <a:solidFill>
                  <a:srgbClr val="8A62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引用 ── 教訓 1</a:t>
            </a:r>
            <a:endParaRPr lang="ja-JP" alt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158191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17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よいソフトはすべて、開発者の個人的な悩み解決から始まる。</a:t>
            </a:r>
            <a:endParaRPr lang="ja-JP" alt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192938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50" b="1" dirty="0">
                <a:solidFill>
                  <a:srgbClr val="0F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課題3：自分の「めんどう」から出発する</a:t>
            </a:r>
            <a:endParaRPr lang="ja-JP" alt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48640" y="2450592"/>
            <a:ext cx="1106424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2450592"/>
            <a:ext cx="91440" cy="1078992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22960" y="2542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50" b="1" dirty="0">
                <a:solidFill>
                  <a:srgbClr val="8A62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引用 ── 教訓 7</a:t>
            </a:r>
            <a:endParaRPr lang="ja-JP" alt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2798064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17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はやめのリリース、ひんぱんなリリース。そして顧客の話をきくこと</a:t>
            </a:r>
            <a:endParaRPr lang="ja-JP" alt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3145536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50" b="1" dirty="0">
                <a:solidFill>
                  <a:srgbClr val="1668B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リーナスは作りかけのカーネルを1日に何回も公開した</a:t>
            </a:r>
            <a:endParaRPr lang="ja-JP" alt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548640" y="3666744"/>
            <a:ext cx="1106424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8640" y="3666744"/>
            <a:ext cx="91440" cy="1481328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22960" y="37581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50" b="1" dirty="0">
                <a:solidFill>
                  <a:srgbClr val="8A62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引用 ── 教訓 8</a:t>
            </a:r>
            <a:endParaRPr lang="ja-JP" alt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4014216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17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ベータテスタと共同開発者の基盤さえ十分大きければ、ほとんどすべての問題はすぐに見つけだされて、その直し方もだれかにはすぐわかるはず。</a:t>
            </a:r>
            <a:endParaRPr lang="ja-JP" alt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" y="476402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50" b="1" dirty="0">
                <a:solidFill>
                  <a:srgbClr val="BE3E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→「目玉の数さえ十分あれば、どんなバグも深刻ではない」（リーヌスの法則）── 課題2で、あなたが目玉になる</a:t>
            </a:r>
            <a:endParaRPr lang="ja-JP" altLang="en-US" sz="1450" dirty="0"/>
          </a:p>
        </p:txBody>
      </p:sp>
      <p:sp>
        <p:nvSpPr>
          <p:cNvPr id="19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引用：E. S. Raymond『伽藍とバザール』山形浩生 訳（© 2000 YAMAGATA Hiroo. 版権表示を残す限り再配布自由）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38404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0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 は「もう1つの目玉」</a:t>
            </a:r>
            <a:endParaRPr lang="ja-JP" alt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80160"/>
            <a:ext cx="502920" cy="502920"/>
          </a:xfrm>
          <a:prstGeom prst="ellipse">
            <a:avLst/>
          </a:prstGeom>
          <a:solidFill>
            <a:srgbClr val="5FA8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800" b="1" dirty="0">
                <a:solidFill>
                  <a:srgbClr val="1C202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1</a:t>
            </a:r>
            <a:endParaRPr lang="ja-JP" alt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126187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Copilot のような AI は、インターネットに公開された大量のコードや文章から学んでいる</a:t>
            </a:r>
            <a:endParaRPr lang="ja-JP" alt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164592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その多くは、まさに「バザール」で公開されてきたもの</a:t>
            </a:r>
            <a:endParaRPr lang="ja-JP" alt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240280"/>
            <a:ext cx="502920" cy="502920"/>
          </a:xfrm>
          <a:prstGeom prst="ellipse">
            <a:avLst/>
          </a:prstGeom>
          <a:solidFill>
            <a:srgbClr val="5FA8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800" b="1" dirty="0">
                <a:solidFill>
                  <a:srgbClr val="1C202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2</a:t>
            </a:r>
            <a:endParaRPr lang="ja-JP" alt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222199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 AI は、あなたの横にいる「もう1つの目玉」として役に立つ</a:t>
            </a:r>
            <a:endParaRPr lang="ja-JP" alt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280160" y="260604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分からないコマンドの意味を、何度でも聞ける</a:t>
            </a:r>
            <a:endParaRPr lang="ja-JP" alt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48640" y="3337560"/>
            <a:ext cx="11064240" cy="1097280"/>
          </a:xfrm>
          <a:prstGeom prst="roundRect">
            <a:avLst>
              <a:gd name="adj" fmla="val 5833"/>
            </a:avLst>
          </a:prstGeom>
          <a:solidFill>
            <a:srgbClr val="3A1A10"/>
          </a:solidFill>
          <a:ln w="25400">
            <a:solidFill>
              <a:srgbClr val="BE3E1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8680" y="3493008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200" b="1" dirty="0">
                <a:solidFill>
                  <a:srgbClr val="F2C7B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ただし AI は、間違っていても、正しいときと同じ口調で答える</a:t>
            </a:r>
            <a:endParaRPr lang="ja-JP" alt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395020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「自信がなさそう」という合図が出ない。</a:t>
            </a:r>
            <a:endParaRPr lang="ja-JP" alt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48640" y="461772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0F3833"/>
          </a:solidFill>
          <a:ln w="25400">
            <a:solidFill>
              <a:srgbClr val="4FC3B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68680" y="461772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000" b="1" dirty="0">
                <a:solidFill>
                  <a:srgbClr val="BFE8E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合っているかを決めるのは、地図を持っていて、自分で打って確かめられる人</a:t>
            </a:r>
            <a:endParaRPr lang="ja-JP" alt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38404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0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 AI の使い方 ── コードは書かせない</a:t>
            </a:r>
            <a:endParaRPr lang="ja-JP" alt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280160"/>
            <a:ext cx="539496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D8D2C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49808" y="1463040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7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Copilot Chat を開く（どちらか）</a:t>
            </a:r>
            <a:endParaRPr lang="ja-JP" alt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749808" y="1883664"/>
            <a:ext cx="499262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5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A. Windows の VSCode </a:t>
            </a:r>
            <a:pPr indent="0" marL="0">
              <a:lnSpc>
                <a:spcPct val="130000"/>
              </a:lnSpc>
              <a:buNone/>
            </a:pPr>
            <a:r>
              <a:rPr lang="ja-JP" altLang="en-US" sz="150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Copilot のアイコンからチャット
</a:t>
            </a:r>
            <a:pPr indent="0" marL="0">
              <a:lnSpc>
                <a:spcPct val="130000"/>
              </a:lnSpc>
              <a:buNone/>
            </a:pPr>
            <a:r>
              <a:rPr lang="ja-JP" altLang="en-US" sz="15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B. ブラウザ </a:t>
            </a:r>
            <a:pPr indent="0" marL="0">
              <a:lnSpc>
                <a:spcPct val="130000"/>
              </a:lnSpc>
              <a:buNone/>
            </a:pPr>
            <a:r>
              <a:rPr lang="ja-JP" altLang="en-US" sz="1500" dirty="0">
                <a:solidFill>
                  <a:srgbClr val="5A627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→ github.com/copilot</a:t>
            </a:r>
            <a:endParaRPr lang="ja-JP" altLang="en-US" sz="1500" dirty="0"/>
          </a:p>
        </p:txBody>
      </p:sp>
      <p:sp>
        <p:nvSpPr>
          <p:cNvPr id="7" name="card"/>
          <p:cNvSpPr/>
          <p:nvPr/>
        </p:nvSpPr>
        <p:spPr>
          <a:xfrm>
            <a:off x="6217920" y="1280160"/>
            <a:ext cx="539496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D8D2C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19088" y="1463040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7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動作確認</a:t>
            </a:r>
            <a:endParaRPr lang="ja-JP" alt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419088" y="1883664"/>
            <a:ext cx="499262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500" dirty="0">
                <a:solidFill>
                  <a:srgbClr val="1C202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ls コマンドは何をしますか。
1文で答えてください。
</a:t>
            </a:r>
            <a:pPr indent="0" marL="0">
              <a:lnSpc>
                <a:spcPct val="130000"/>
              </a:lnSpc>
              <a:buNone/>
            </a:pPr>
            <a:r>
              <a:rPr lang="ja-JP" altLang="en-US" sz="150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日本語で答えが返れば準備完了</a:t>
            </a:r>
            <a:endParaRPr lang="ja-JP" alt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1089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668B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7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1</a:t>
            </a:r>
            <a:endParaRPr lang="ja-JP" alt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1188720" y="31089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5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聞くのは「意味」だけ　</a:t>
            </a:r>
            <a:pPr indent="0" marL="0">
              <a:buNone/>
            </a:pPr>
            <a:r>
              <a:rPr lang="ja-JP" altLang="en-US" sz="16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「〜を作って」「コードを書いて」とは頼まない</a:t>
            </a:r>
            <a:endParaRPr lang="ja-JP" altLang="en-US" sz="16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371246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668B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7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2</a:t>
            </a:r>
            <a:endParaRPr lang="ja-JP" alt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1188720" y="371246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5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聞く前に15秒、自分の予想を立てる　</a:t>
            </a:r>
            <a:pPr indent="0" marL="0">
              <a:buNone/>
            </a:pPr>
            <a:r>
              <a:rPr lang="ja-JP" altLang="en-US" sz="16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第2・3週目の「15秒ルール」と同じ</a:t>
            </a:r>
            <a:endParaRPr lang="ja-JP" altLang="en-US" sz="165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43159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668B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7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3</a:t>
            </a:r>
            <a:endParaRPr lang="ja-JP" alt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43159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5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 の答えを信じる前に、コマンドを打って確かめる　</a:t>
            </a:r>
            <a:pPr indent="0" marL="0">
              <a:buNone/>
            </a:pPr>
            <a:r>
              <a:rPr lang="ja-JP" altLang="en-US" sz="16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確かめられないものは「保留」のまま</a:t>
            </a:r>
            <a:endParaRPr lang="ja-JP" alt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548640" y="5029200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FAE5DD"/>
          </a:solidFill>
          <a:ln w="19050">
            <a:solidFill>
              <a:srgbClr val="BE3E1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2960" y="5029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b="1" dirty="0">
                <a:solidFill>
                  <a:srgbClr val="BE3E1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rm ・ mv ・ &gt; </a:t>
            </a:r>
            <a:pPr indent="0" marL="0">
              <a:buNone/>
            </a:pPr>
            <a:r>
              <a:rPr lang="ja-JP" altLang="en-US" sz="1600" b="1" dirty="0">
                <a:solidFill>
                  <a:srgbClr val="BE3E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が入っていたら、AI が出しても実行しない。先生に見せる。</a:t>
            </a:r>
            <a:endParaRPr lang="ja-JP" alt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38404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0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ここから45分、手を動かす</a:t>
            </a:r>
            <a:endParaRPr lang="ja-JP" alt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353568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371600"/>
            <a:ext cx="3535680" cy="82296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1627632"/>
            <a:ext cx="307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b="1" dirty="0">
                <a:solidFill>
                  <a:srgbClr val="8A62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課題 1 ／ 15分</a:t>
            </a:r>
            <a:endParaRPr lang="ja-JP" alt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938528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4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カーネルに会う</a:t>
            </a:r>
            <a:endParaRPr lang="ja-JP" alt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450592"/>
            <a:ext cx="3078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50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コマンドを9つ打って、地図の何段目のことかを考える。</a:t>
            </a:r>
            <a:endParaRPr lang="ja-JP" alt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312920" y="1371600"/>
            <a:ext cx="353568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12920" y="1371600"/>
            <a:ext cx="3535680" cy="82296"/>
          </a:xfrm>
          <a:prstGeom prst="rect">
            <a:avLst/>
          </a:prstGeom>
          <a:solidFill>
            <a:srgbClr val="BE3E1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41520" y="1627632"/>
            <a:ext cx="307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b="1" dirty="0">
                <a:solidFill>
                  <a:srgbClr val="BE3E1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課題 2 ／ 20分</a:t>
            </a:r>
            <a:endParaRPr lang="ja-JP" alt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4541520" y="1938528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4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AI証言カード</a:t>
            </a:r>
            <a:endParaRPr lang="ja-JP" alt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4541520" y="2450592"/>
            <a:ext cx="3078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50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 風の答え3枚のうち、間違いの1枚をコマンドで見つける。← 本命</a:t>
            </a:r>
            <a:endParaRPr lang="ja-JP" alt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077200" y="1371600"/>
            <a:ext cx="353568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077200" y="1371600"/>
            <a:ext cx="3535680" cy="82296"/>
          </a:xfrm>
          <a:prstGeom prst="rect">
            <a:avLst/>
          </a:prstGeom>
          <a:solidFill>
            <a:srgbClr val="0F6B6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305800" y="1627632"/>
            <a:ext cx="307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b="1" dirty="0">
                <a:solidFill>
                  <a:srgbClr val="0F6B6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課題 3 ／ 10分</a:t>
            </a:r>
            <a:endParaRPr lang="ja-JP" alt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8305800" y="1938528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4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自分の「めんどう」</a:t>
            </a:r>
            <a:endParaRPr lang="ja-JP" alt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8305800" y="2450592"/>
            <a:ext cx="3078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50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既存のコマンドの組み合わせで片づける。Copilot に聞いてよい。</a:t>
            </a:r>
            <a:endParaRPr lang="ja-JP" alt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48640" y="3886200"/>
            <a:ext cx="11064240" cy="1188720"/>
          </a:xfrm>
          <a:prstGeom prst="roundRect">
            <a:avLst>
              <a:gd name="adj" fmla="val 5385"/>
            </a:avLst>
          </a:prstGeom>
          <a:solidFill>
            <a:srgbClr val="1C2027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68680" y="409651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mkdir -p ~/syspro/week05 &amp;&amp; cd ~/syspro/week05</a:t>
            </a:r>
            <a:endParaRPr lang="ja-JP" alt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868680" y="445312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今日の作業場所。先週の numbers.txt をここにコピー（無ければ配布セットから）。</a:t>
            </a:r>
            <a:endParaRPr lang="ja-JP" altLang="en-US" sz="1550" dirty="0"/>
          </a:p>
        </p:txBody>
      </p:sp>
      <p:sp>
        <p:nvSpPr>
          <p:cNvPr id="22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詰まったら授業資料の「困ったとき」の表へ ／ Copilot が開けなくても課題は進められる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572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8A31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50" b="1" dirty="0">
                <a:solidFill>
                  <a:srgbClr val="1C202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課題 1</a:t>
            </a:r>
            <a:endParaRPr lang="ja-JP" altLang="en-US" sz="1350" dirty="0"/>
          </a:p>
        </p:txBody>
      </p:sp>
      <p:sp>
        <p:nvSpPr>
          <p:cNvPr id="4" name="Text 1"/>
          <p:cNvSpPr txBox="1"/>
          <p:nvPr/>
        </p:nvSpPr>
        <p:spPr>
          <a:xfrm>
            <a:off x="2468880" y="34747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2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カーネルに会う ── 何段目のこと？</a:t>
            </a:r>
            <a:endParaRPr lang="ja-JP" alt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234440"/>
            <a:ext cx="5394960" cy="658368"/>
          </a:xfrm>
          <a:prstGeom prst="roundRect">
            <a:avLst>
              <a:gd name="adj" fmla="val 6944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28930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b="1" dirty="0">
                <a:solidFill>
                  <a:srgbClr val="5FA8E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whoami</a:t>
            </a:r>
            <a:endParaRPr lang="ja-JP" alt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3291840" y="1289304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自分のユーザー名</a:t>
            </a:r>
            <a:endParaRPr lang="ja-JP" alt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4983480" y="1380744"/>
            <a:ext cx="822960" cy="365760"/>
          </a:xfrm>
          <a:prstGeom prst="rect">
            <a:avLst/>
          </a:prstGeom>
          <a:noFill/>
          <a:ln w="12700">
            <a:solidFill>
              <a:srgbClr val="E8A317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50" b="1" dirty="0">
                <a:solidFill>
                  <a:srgbClr val="E8A3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？段目</a:t>
            </a:r>
            <a:endParaRPr lang="ja-JP" alt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2020824"/>
            <a:ext cx="5394960" cy="658368"/>
          </a:xfrm>
          <a:prstGeom prst="roundRect">
            <a:avLst>
              <a:gd name="adj" fmla="val 6944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207568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b="1" dirty="0">
                <a:solidFill>
                  <a:srgbClr val="5FA8E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echo $SHELL</a:t>
            </a:r>
            <a:endParaRPr lang="ja-JP" alt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291840" y="207568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使っているシェル</a:t>
            </a:r>
            <a:endParaRPr lang="ja-JP" alt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4983480" y="2167128"/>
            <a:ext cx="822960" cy="365760"/>
          </a:xfrm>
          <a:prstGeom prst="rect">
            <a:avLst/>
          </a:prstGeom>
          <a:noFill/>
          <a:ln w="12700">
            <a:solidFill>
              <a:srgbClr val="E8A317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50" b="1" dirty="0">
                <a:solidFill>
                  <a:srgbClr val="E8A3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？段目</a:t>
            </a:r>
            <a:endParaRPr lang="ja-JP" alt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2807208"/>
            <a:ext cx="5394960" cy="658368"/>
          </a:xfrm>
          <a:prstGeom prst="roundRect">
            <a:avLst>
              <a:gd name="adj" fmla="val 6944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286207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b="1" dirty="0">
                <a:solidFill>
                  <a:srgbClr val="5FA8E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ps</a:t>
            </a:r>
            <a:endParaRPr lang="ja-JP" alt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291840" y="286207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動いているプログラムの一覧</a:t>
            </a:r>
            <a:endParaRPr lang="ja-JP" alt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4983480" y="2953512"/>
            <a:ext cx="822960" cy="365760"/>
          </a:xfrm>
          <a:prstGeom prst="rect">
            <a:avLst/>
          </a:prstGeom>
          <a:noFill/>
          <a:ln w="12700">
            <a:solidFill>
              <a:srgbClr val="E8A317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50" b="1" dirty="0">
                <a:solidFill>
                  <a:srgbClr val="E8A3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？段目</a:t>
            </a:r>
            <a:endParaRPr lang="ja-JP" alt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48640" y="3593592"/>
            <a:ext cx="5394960" cy="658368"/>
          </a:xfrm>
          <a:prstGeom prst="roundRect">
            <a:avLst>
              <a:gd name="adj" fmla="val 6944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3648456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b="1" dirty="0">
                <a:solidFill>
                  <a:srgbClr val="5FA8E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which ls</a:t>
            </a:r>
            <a:endParaRPr lang="ja-JP" alt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3291840" y="3648456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ls の実体の場所</a:t>
            </a:r>
            <a:endParaRPr lang="ja-JP" alt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4983480" y="3739896"/>
            <a:ext cx="822960" cy="365760"/>
          </a:xfrm>
          <a:prstGeom prst="rect">
            <a:avLst/>
          </a:prstGeom>
          <a:noFill/>
          <a:ln w="12700">
            <a:solidFill>
              <a:srgbClr val="E8A317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50" b="1" dirty="0">
                <a:solidFill>
                  <a:srgbClr val="E8A3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？段目</a:t>
            </a:r>
            <a:endParaRPr lang="ja-JP" alt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548640" y="4379976"/>
            <a:ext cx="5394960" cy="658368"/>
          </a:xfrm>
          <a:prstGeom prst="roundRect">
            <a:avLst>
              <a:gd name="adj" fmla="val 6944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44348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b="1" dirty="0">
                <a:solidFill>
                  <a:srgbClr val="5FA8E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uname -s</a:t>
            </a:r>
            <a:endParaRPr lang="ja-JP" alt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3291840" y="44348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カーネルの名前</a:t>
            </a:r>
            <a:endParaRPr lang="ja-JP" altLang="en-US" sz="1350" dirty="0"/>
          </a:p>
        </p:txBody>
      </p:sp>
      <p:sp>
        <p:nvSpPr>
          <p:cNvPr id="24" name="Text 21"/>
          <p:cNvSpPr txBox="1"/>
          <p:nvPr/>
        </p:nvSpPr>
        <p:spPr>
          <a:xfrm>
            <a:off x="4983480" y="4526280"/>
            <a:ext cx="822960" cy="365760"/>
          </a:xfrm>
          <a:prstGeom prst="rect">
            <a:avLst/>
          </a:prstGeom>
          <a:noFill/>
          <a:ln w="12700">
            <a:solidFill>
              <a:srgbClr val="E8A317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50" b="1" dirty="0">
                <a:solidFill>
                  <a:srgbClr val="E8A3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？段目</a:t>
            </a:r>
            <a:endParaRPr lang="ja-JP" alt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6217920" y="1234440"/>
            <a:ext cx="5394960" cy="658368"/>
          </a:xfrm>
          <a:prstGeom prst="roundRect">
            <a:avLst>
              <a:gd name="adj" fmla="val 6944"/>
            </a:avLst>
          </a:prstGeom>
          <a:solidFill>
            <a:srgbClr val="141820"/>
          </a:solidFill>
          <a:ln w="25400">
            <a:solidFill>
              <a:srgbClr val="E8A31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400800" y="128930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b="1" dirty="0">
                <a:solidFill>
                  <a:srgbClr val="5FA8E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uname -r</a:t>
            </a:r>
            <a:endParaRPr lang="ja-JP" alt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8961120" y="1289304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カーネルの版 ← 今日の主役</a:t>
            </a:r>
            <a:endParaRPr lang="ja-JP" altLang="en-US" sz="1350" dirty="0"/>
          </a:p>
        </p:txBody>
      </p:sp>
      <p:sp>
        <p:nvSpPr>
          <p:cNvPr id="28" name="Text 25"/>
          <p:cNvSpPr txBox="1"/>
          <p:nvPr/>
        </p:nvSpPr>
        <p:spPr>
          <a:xfrm>
            <a:off x="10652760" y="1380744"/>
            <a:ext cx="822960" cy="365760"/>
          </a:xfrm>
          <a:prstGeom prst="rect">
            <a:avLst/>
          </a:prstGeom>
          <a:noFill/>
          <a:ln w="12700">
            <a:solidFill>
              <a:srgbClr val="E8A317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50" b="1" dirty="0">
                <a:solidFill>
                  <a:srgbClr val="E8A3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？段目</a:t>
            </a:r>
            <a:endParaRPr lang="ja-JP" alt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6217920" y="2020824"/>
            <a:ext cx="5394960" cy="658368"/>
          </a:xfrm>
          <a:prstGeom prst="roundRect">
            <a:avLst>
              <a:gd name="adj" fmla="val 6944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400800" y="207568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b="1" dirty="0">
                <a:solidFill>
                  <a:srgbClr val="5FA8E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cat /etc/os-release</a:t>
            </a:r>
            <a:endParaRPr lang="ja-JP" alt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8961120" y="207568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ディストリビューション名</a:t>
            </a:r>
            <a:endParaRPr lang="ja-JP" altLang="en-US" sz="1350" dirty="0"/>
          </a:p>
        </p:txBody>
      </p:sp>
      <p:sp>
        <p:nvSpPr>
          <p:cNvPr id="32" name="Text 29"/>
          <p:cNvSpPr txBox="1"/>
          <p:nvPr/>
        </p:nvSpPr>
        <p:spPr>
          <a:xfrm>
            <a:off x="10652760" y="2167128"/>
            <a:ext cx="822960" cy="365760"/>
          </a:xfrm>
          <a:prstGeom prst="rect">
            <a:avLst/>
          </a:prstGeom>
          <a:noFill/>
          <a:ln w="12700">
            <a:solidFill>
              <a:srgbClr val="E8A317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50" b="1" dirty="0">
                <a:solidFill>
                  <a:srgbClr val="E8A3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？段目</a:t>
            </a:r>
            <a:endParaRPr lang="ja-JP" altLang="en-US" sz="1350" dirty="0"/>
          </a:p>
        </p:txBody>
      </p:sp>
      <p:sp>
        <p:nvSpPr>
          <p:cNvPr id="33" name="Shape 30"/>
          <p:cNvSpPr/>
          <p:nvPr/>
        </p:nvSpPr>
        <p:spPr>
          <a:xfrm>
            <a:off x="6217920" y="2807208"/>
            <a:ext cx="5394960" cy="658368"/>
          </a:xfrm>
          <a:prstGeom prst="roundRect">
            <a:avLst>
              <a:gd name="adj" fmla="val 6944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400800" y="286207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b="1" dirty="0">
                <a:solidFill>
                  <a:srgbClr val="5FA8E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nproc</a:t>
            </a:r>
            <a:endParaRPr lang="ja-JP" alt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8961120" y="286207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CPU の数</a:t>
            </a:r>
            <a:endParaRPr lang="ja-JP" altLang="en-US" sz="1350" dirty="0"/>
          </a:p>
        </p:txBody>
      </p:sp>
      <p:sp>
        <p:nvSpPr>
          <p:cNvPr id="36" name="Text 33"/>
          <p:cNvSpPr txBox="1"/>
          <p:nvPr/>
        </p:nvSpPr>
        <p:spPr>
          <a:xfrm>
            <a:off x="10652760" y="2953512"/>
            <a:ext cx="822960" cy="365760"/>
          </a:xfrm>
          <a:prstGeom prst="rect">
            <a:avLst/>
          </a:prstGeom>
          <a:noFill/>
          <a:ln w="12700">
            <a:solidFill>
              <a:srgbClr val="E8A317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50" b="1" dirty="0">
                <a:solidFill>
                  <a:srgbClr val="E8A3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？段目</a:t>
            </a:r>
            <a:endParaRPr lang="ja-JP" altLang="en-US" sz="1350" dirty="0"/>
          </a:p>
        </p:txBody>
      </p:sp>
      <p:sp>
        <p:nvSpPr>
          <p:cNvPr id="37" name="Shape 34"/>
          <p:cNvSpPr/>
          <p:nvPr/>
        </p:nvSpPr>
        <p:spPr>
          <a:xfrm>
            <a:off x="6217920" y="3593592"/>
            <a:ext cx="5394960" cy="658368"/>
          </a:xfrm>
          <a:prstGeom prst="roundRect">
            <a:avLst>
              <a:gd name="adj" fmla="val 6944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400800" y="3648456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b="1" dirty="0">
                <a:solidFill>
                  <a:srgbClr val="5FA8E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free -h</a:t>
            </a:r>
            <a:endParaRPr lang="ja-JP" altLang="en-US" sz="1600" dirty="0"/>
          </a:p>
        </p:txBody>
      </p:sp>
      <p:sp>
        <p:nvSpPr>
          <p:cNvPr id="39" name="Text 36"/>
          <p:cNvSpPr txBox="1"/>
          <p:nvPr/>
        </p:nvSpPr>
        <p:spPr>
          <a:xfrm>
            <a:off x="8961120" y="3648456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メモリの量</a:t>
            </a:r>
            <a:endParaRPr lang="ja-JP" altLang="en-US" sz="1350" dirty="0"/>
          </a:p>
        </p:txBody>
      </p:sp>
      <p:sp>
        <p:nvSpPr>
          <p:cNvPr id="40" name="Text 37"/>
          <p:cNvSpPr txBox="1"/>
          <p:nvPr/>
        </p:nvSpPr>
        <p:spPr>
          <a:xfrm>
            <a:off x="10652760" y="3739896"/>
            <a:ext cx="822960" cy="365760"/>
          </a:xfrm>
          <a:prstGeom prst="rect">
            <a:avLst/>
          </a:prstGeom>
          <a:noFill/>
          <a:ln w="12700">
            <a:solidFill>
              <a:srgbClr val="E8A317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50" b="1" dirty="0">
                <a:solidFill>
                  <a:srgbClr val="E8A3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？段目</a:t>
            </a:r>
            <a:endParaRPr lang="ja-JP" altLang="en-US" sz="1350" dirty="0"/>
          </a:p>
        </p:txBody>
      </p:sp>
      <p:sp>
        <p:nvSpPr>
          <p:cNvPr id="41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打つ → 15秒で何段目か予想 → 授業資料の「答え」を開いて確かめる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572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8A31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50" b="1" dirty="0">
                <a:solidFill>
                  <a:srgbClr val="1C202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課題 1</a:t>
            </a:r>
            <a:endParaRPr lang="ja-JP" altLang="en-US" sz="1350" dirty="0"/>
          </a:p>
        </p:txBody>
      </p:sp>
      <p:sp>
        <p:nvSpPr>
          <p:cNvPr id="4" name="Text 1"/>
          <p:cNvSpPr txBox="1"/>
          <p:nvPr/>
        </p:nvSpPr>
        <p:spPr>
          <a:xfrm>
            <a:off x="2468880" y="34747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2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答え ── 全部の段に会えた</a:t>
            </a:r>
            <a:endParaRPr lang="ja-JP" altLang="en-US" sz="3200" dirty="0"/>
          </a:p>
        </p:txBody>
      </p:sp>
      <p:graphicFrame>
        <p:nvGraphicFramePr>
          <p:cNvPr id="1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023360"/>
                <a:gridCol w="5029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段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コマンド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分かること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 あなた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MS Gothic" pitchFamily="34" charset="0"/>
                          <a:ea typeface="MS Gothic" pitchFamily="34" charset="-122"/>
                          <a:cs typeface="MS Gothic" pitchFamily="34" charset="-120"/>
                        </a:rPr>
                        <a:t>whoami</a:t>
                      </a:r>
                      <a:endParaRPr lang="ja-JP" altLang="en-US" sz="1450" dirty="0">
                        <a:latin typeface="MS Gothic" charset="0"/>
                        <a:ea typeface="MS Gothic" charset="0"/>
                        <a:cs typeface="MS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自分の名前（覚えているのはカーネル）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 コマンド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MS Gothic" pitchFamily="34" charset="0"/>
                          <a:ea typeface="MS Gothic" pitchFamily="34" charset="-122"/>
                          <a:cs typeface="MS Gothic" pitchFamily="34" charset="-120"/>
                        </a:rPr>
                        <a:t>echo $SHELL ・ ps ・ which ls</a:t>
                      </a:r>
                      <a:endParaRPr lang="ja-JP" altLang="en-US" sz="1450" dirty="0">
                        <a:latin typeface="MS Gothic" charset="0"/>
                        <a:ea typeface="MS Gothic" charset="0"/>
                        <a:cs typeface="MS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シェル（ウェイター）／ ls も普通のファイル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1668B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 カーネル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1668B5"/>
                          </a:solidFill>
                          <a:latin typeface="MS Gothic" pitchFamily="34" charset="0"/>
                          <a:ea typeface="MS Gothic" pitchFamily="34" charset="-122"/>
                          <a:cs typeface="MS Gothic" pitchFamily="34" charset="-120"/>
                        </a:rPr>
                        <a:t>uname -s ・ uname -r</a:t>
                      </a:r>
                      <a:endParaRPr lang="ja-JP" altLang="en-US" sz="1450" dirty="0">
                        <a:latin typeface="MS Gothic" charset="0"/>
                        <a:ea typeface="MS Gothic" charset="0"/>
                        <a:cs typeface="MS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1668B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Linux という名前と、その版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2＋3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MS Gothic" pitchFamily="34" charset="0"/>
                          <a:ea typeface="MS Gothic" pitchFamily="34" charset="-122"/>
                          <a:cs typeface="MS Gothic" pitchFamily="34" charset="-120"/>
                        </a:rPr>
                        <a:t>cat /etc/os-release</a:t>
                      </a:r>
                      <a:endParaRPr lang="ja-JP" altLang="en-US" sz="1450" dirty="0">
                        <a:latin typeface="MS Gothic" charset="0"/>
                        <a:ea typeface="MS Gothic" charset="0"/>
                        <a:cs typeface="MS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ディストリビューション（お店のブランド）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 ハードウェア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MS Gothic" pitchFamily="34" charset="0"/>
                          <a:ea typeface="MS Gothic" pitchFamily="34" charset="-122"/>
                          <a:cs typeface="MS Gothic" pitchFamily="34" charset="-120"/>
                        </a:rPr>
                        <a:t>nproc ・ free -h</a:t>
                      </a:r>
                      <a:endParaRPr lang="ja-JP" altLang="en-US" sz="1450" dirty="0">
                        <a:latin typeface="MS Gothic" charset="0"/>
                        <a:ea typeface="MS Gothic" charset="0"/>
                        <a:cs typeface="MS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CPU とメモリ ── でも、カーネルに聞いている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4434840"/>
            <a:ext cx="11064240" cy="1005840"/>
          </a:xfrm>
          <a:prstGeom prst="roundRect">
            <a:avLst>
              <a:gd name="adj" fmla="val 6364"/>
            </a:avLst>
          </a:prstGeom>
          <a:solidFill>
            <a:srgbClr val="1C2027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868680" y="443484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900" b="1" dirty="0">
                <a:solidFill>
                  <a:srgbClr val="E8A3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4段目のことを知りたいときも、コマンドはカーネルに聞いていた。直通の道は無い。</a:t>
            </a:r>
            <a:endParaRPr lang="ja-JP" altLang="en-US" sz="1900" dirty="0"/>
          </a:p>
        </p:txBody>
      </p:sp>
      <p:sp>
        <p:nvSpPr>
          <p:cNvPr id="8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第2週目の1文「すべての出入りは、カーネルという1点を通っている」は、こういう意味だった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572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BE3E1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5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課題 2</a:t>
            </a:r>
            <a:endParaRPr lang="ja-JP" altLang="en-US" sz="1350" dirty="0"/>
          </a:p>
        </p:txBody>
      </p:sp>
      <p:sp>
        <p:nvSpPr>
          <p:cNvPr id="4" name="Text 1"/>
          <p:cNvSpPr txBox="1"/>
          <p:nvPr/>
        </p:nvSpPr>
        <p:spPr>
          <a:xfrm>
            <a:off x="2468880" y="34747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4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AI証言カードを確かめる</a:t>
            </a:r>
            <a:endParaRPr lang="ja-JP" alt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900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Copilot の答え方をまねたカードが3枚。</a:t>
            </a:r>
            <a:pPr indent="0" marL="0">
              <a:buNone/>
            </a:pPr>
            <a:r>
              <a:rPr lang="ja-JP" altLang="en-US" sz="1900" b="1" dirty="0">
                <a:solidFill>
                  <a:srgbClr val="E8A3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うち1枚に、もっともらしい間違いが1か所だけ。</a:t>
            </a:r>
            <a:endParaRPr lang="ja-JP" alt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874520"/>
            <a:ext cx="5394960" cy="1143000"/>
          </a:xfrm>
          <a:prstGeom prst="roundRect">
            <a:avLst>
              <a:gd name="adj" fmla="val 5600"/>
            </a:avLst>
          </a:prstGeom>
          <a:solidFill>
            <a:srgbClr val="1668B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 組
</a:t>
            </a:r>
            <a:pPr algn="ctr" indent="0" marL="0">
              <a:buNone/>
            </a:pPr>
            <a:r>
              <a:rPr lang="ja-JP" altLang="en-US" sz="15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学籍番号の末尾が奇数（1・3・5・7・9）</a:t>
            </a:r>
            <a:endParaRPr lang="ja-JP" alt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217920" y="1874520"/>
            <a:ext cx="5394960" cy="1143000"/>
          </a:xfrm>
          <a:prstGeom prst="roundRect">
            <a:avLst>
              <a:gd name="adj" fmla="val 5600"/>
            </a:avLst>
          </a:prstGeom>
          <a:solidFill>
            <a:srgbClr val="E8A31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30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 組
</a:t>
            </a:r>
            <a:pPr algn="ctr" indent="0" marL="0">
              <a:buNone/>
            </a:pPr>
            <a:r>
              <a:rPr lang="ja-JP" altLang="en-US" sz="1500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学籍番号の末尾が偶数（0・2・4・6・8）</a:t>
            </a:r>
            <a:endParaRPr lang="ja-JP" alt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3291840"/>
            <a:ext cx="2628900" cy="1143000"/>
          </a:xfrm>
          <a:prstGeom prst="roundRect">
            <a:avLst>
              <a:gd name="adj" fmla="val 4800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3429000"/>
            <a:ext cx="22631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900" b="1" dirty="0">
                <a:solidFill>
                  <a:srgbClr val="E8A3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読む</a:t>
            </a:r>
            <a:endParaRPr lang="ja-JP" alt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840480"/>
            <a:ext cx="2263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質問と AI の答え</a:t>
            </a:r>
            <a:endParaRPr lang="ja-JP" alt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3360420" y="3291840"/>
            <a:ext cx="2628900" cy="1143000"/>
          </a:xfrm>
          <a:prstGeom prst="roundRect">
            <a:avLst>
              <a:gd name="adj" fmla="val 4800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43300" y="3429000"/>
            <a:ext cx="22631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900" b="1" dirty="0">
                <a:solidFill>
                  <a:srgbClr val="E8A3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予想</a:t>
            </a:r>
            <a:endParaRPr lang="ja-JP" alt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3543300" y="3840480"/>
            <a:ext cx="2263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15秒で ○ か ×</a:t>
            </a:r>
            <a:endParaRPr lang="ja-JP" alt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172200" y="3291840"/>
            <a:ext cx="2628900" cy="1143000"/>
          </a:xfrm>
          <a:prstGeom prst="roundRect">
            <a:avLst>
              <a:gd name="adj" fmla="val 4800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355080" y="3429000"/>
            <a:ext cx="22631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900" b="1" dirty="0">
                <a:solidFill>
                  <a:srgbClr val="E8A3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打つ</a:t>
            </a:r>
            <a:endParaRPr lang="ja-JP" alt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6355080" y="3840480"/>
            <a:ext cx="2263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確かめるコマンドを自分で</a:t>
            </a:r>
            <a:endParaRPr lang="ja-JP" alt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8983980" y="3291840"/>
            <a:ext cx="2628900" cy="1143000"/>
          </a:xfrm>
          <a:prstGeom prst="roundRect">
            <a:avLst>
              <a:gd name="adj" fmla="val 4800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166860" y="3429000"/>
            <a:ext cx="22631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900" b="1" dirty="0">
                <a:solidFill>
                  <a:srgbClr val="E8A3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 決める</a:t>
            </a:r>
            <a:endParaRPr lang="ja-JP" altLang="en-US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9166860" y="3840480"/>
            <a:ext cx="2263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結果を見て ○ ／ ×</a:t>
            </a:r>
            <a:endParaRPr lang="ja-JP" alt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548640" y="4663440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0F3833"/>
          </a:solidFill>
          <a:ln w="19050">
            <a:solidFill>
              <a:srgbClr val="4FC3B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2960" y="46634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50" b="1" dirty="0">
                <a:solidFill>
                  <a:srgbClr val="BFE8E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見つけたら：同じ質問を自分の Copilot にもする → カードを自分の言葉で書き直す（D列に書く）</a:t>
            </a:r>
            <a:endParaRPr lang="ja-JP" altLang="en-US" sz="1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572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BE3E1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5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答え合わせ</a:t>
            </a:r>
            <a:endParaRPr lang="ja-JP" altLang="en-US" sz="1350" dirty="0"/>
          </a:p>
        </p:txBody>
      </p:sp>
      <p:sp>
        <p:nvSpPr>
          <p:cNvPr id="4" name="Text 1"/>
          <p:cNvSpPr txBox="1"/>
          <p:nvPr/>
        </p:nvSpPr>
        <p:spPr>
          <a:xfrm>
            <a:off x="2468880" y="34747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2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課題2 ── 間違いのカード</a:t>
            </a:r>
            <a:endParaRPr lang="ja-JP" alt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234440"/>
            <a:ext cx="539496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17320"/>
            <a:ext cx="1005840" cy="384048"/>
          </a:xfrm>
          <a:prstGeom prst="roundRect">
            <a:avLst>
              <a:gd name="adj" fmla="val 47619"/>
            </a:avLst>
          </a:prstGeom>
          <a:solidFill>
            <a:srgbClr val="1668B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 組</a:t>
            </a:r>
            <a:endParaRPr lang="ja-JP" alt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920240" y="14173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9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A-2　パイプのしくみ</a:t>
            </a:r>
            <a:endParaRPr lang="ja-JP" alt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011680"/>
            <a:ext cx="4937760" cy="640080"/>
          </a:xfrm>
          <a:prstGeom prst="rect">
            <a:avLst/>
          </a:prstGeom>
          <a:solidFill>
            <a:srgbClr val="FAE5DD"/>
          </a:solidFill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ja-JP" altLang="en-US" sz="1550" b="1" dirty="0">
                <a:solidFill>
                  <a:srgbClr val="BE3E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×  </a:t>
            </a:r>
            <a:pPr indent="0" marL="0">
              <a:buNone/>
            </a:pPr>
            <a:r>
              <a:rPr lang="ja-JP" altLang="en-US" sz="1550" dirty="0">
                <a:solidFill>
                  <a:srgbClr val="BE3E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「一時ファイルを作るので、打つたびにファイルが増える」</a:t>
            </a:r>
            <a:endParaRPr lang="ja-JP" alt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788920"/>
            <a:ext cx="4937760" cy="640080"/>
          </a:xfrm>
          <a:prstGeom prst="rect">
            <a:avLst/>
          </a:prstGeom>
          <a:solidFill>
            <a:srgbClr val="E3F5F2"/>
          </a:solidFill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ja-JP" altLang="en-US" sz="1550" b="1" dirty="0">
                <a:solidFill>
                  <a:srgbClr val="0F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○  </a:t>
            </a:r>
            <a:pPr indent="0" marL="0">
              <a:buNone/>
            </a:pPr>
            <a:r>
              <a:rPr lang="ja-JP" altLang="en-US" sz="1550" b="1" dirty="0">
                <a:solidFill>
                  <a:srgbClr val="0F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パイプはカーネルの中の管でつながる。ファイルは作らない</a:t>
            </a:r>
            <a:endParaRPr lang="ja-JP" altLang="en-US" sz="155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6118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b="1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確かめたコマンド</a:t>
            </a:r>
            <a:endParaRPr lang="ja-JP" altLang="en-US" sz="1300" dirty="0"/>
          </a:p>
        </p:txBody>
      </p:sp>
      <p:sp>
        <p:nvSpPr>
          <p:cNvPr id="11" name="codepanel"/>
          <p:cNvSpPr/>
          <p:nvPr/>
        </p:nvSpPr>
        <p:spPr>
          <a:xfrm>
            <a:off x="777240" y="3931920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78408" y="4078224"/>
            <a:ext cx="4535424" cy="621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ja-JP" altLang="en-US" sz="14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ls | wc -l   ← 3回打っても同じ数</a:t>
            </a:r>
            <a:endParaRPr lang="ja-JP" alt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ja-JP" altLang="en-US" sz="14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ls -a        ← 見慣れないファイルは無い</a:t>
            </a:r>
            <a:endParaRPr lang="ja-JP" alt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217920" y="1234440"/>
            <a:ext cx="539496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46520" y="1417320"/>
            <a:ext cx="1005840" cy="384048"/>
          </a:xfrm>
          <a:prstGeom prst="roundRect">
            <a:avLst>
              <a:gd name="adj" fmla="val 47619"/>
            </a:avLst>
          </a:prstGeom>
          <a:solidFill>
            <a:srgbClr val="E8A31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5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 組</a:t>
            </a:r>
            <a:endParaRPr lang="ja-JP" alt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7589520" y="14173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9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B-2　成功か失敗か</a:t>
            </a:r>
            <a:endParaRPr lang="ja-JP" alt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6446520" y="2011680"/>
            <a:ext cx="4937760" cy="640080"/>
          </a:xfrm>
          <a:prstGeom prst="rect">
            <a:avLst/>
          </a:prstGeom>
          <a:solidFill>
            <a:srgbClr val="FAE5DD"/>
          </a:solidFill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ja-JP" altLang="en-US" sz="1550" b="1" dirty="0">
                <a:solidFill>
                  <a:srgbClr val="BE3E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×  </a:t>
            </a:r>
            <a:pPr indent="0" marL="0">
              <a:buNone/>
            </a:pPr>
            <a:r>
              <a:rPr lang="ja-JP" altLang="en-US" sz="1550" dirty="0">
                <a:solidFill>
                  <a:srgbClr val="BE3E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「成功は 1、失敗は 0」</a:t>
            </a:r>
            <a:endParaRPr lang="ja-JP" altLang="en-US" sz="155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788920"/>
            <a:ext cx="4937760" cy="640080"/>
          </a:xfrm>
          <a:prstGeom prst="rect">
            <a:avLst/>
          </a:prstGeom>
          <a:solidFill>
            <a:srgbClr val="E3F5F2"/>
          </a:solidFill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ja-JP" altLang="en-US" sz="1550" b="1" dirty="0">
                <a:solidFill>
                  <a:srgbClr val="0F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○  </a:t>
            </a:r>
            <a:pPr indent="0" marL="0">
              <a:buNone/>
            </a:pPr>
            <a:r>
              <a:rPr lang="ja-JP" altLang="en-US" sz="1550" b="1" dirty="0">
                <a:solidFill>
                  <a:srgbClr val="0F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逆。成功は 0、失敗は 0 以外（1 とは限らない）</a:t>
            </a:r>
            <a:endParaRPr lang="ja-JP" altLang="en-US" sz="155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6118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b="1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確かめたコマンド</a:t>
            </a:r>
            <a:endParaRPr lang="ja-JP" altLang="en-US" sz="1300" dirty="0"/>
          </a:p>
        </p:txBody>
      </p:sp>
      <p:sp>
        <p:nvSpPr>
          <p:cNvPr id="19" name="codepanel"/>
          <p:cNvSpPr/>
          <p:nvPr/>
        </p:nvSpPr>
        <p:spPr>
          <a:xfrm>
            <a:off x="6446520" y="3931920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647688" y="4078224"/>
            <a:ext cx="4535424" cy="621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ja-JP" altLang="en-US" sz="14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ls ; echo $?          → 0</a:t>
            </a:r>
            <a:endParaRPr lang="ja-JP" alt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ja-JP" altLang="en-US" sz="14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ls nofile ; echo $?   → 2</a:t>
            </a:r>
            <a:endParaRPr lang="ja-JP" altLang="en-US" sz="1400" dirty="0"/>
          </a:p>
        </p:txBody>
      </p:sp>
      <p:sp>
        <p:nvSpPr>
          <p:cNvPr id="21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「Copilot がそう言ったから」ではなく「打った結果が」で判断する ── それがリーヌスの法則の目玉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C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572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4FC3B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50" b="1" dirty="0">
                <a:solidFill>
                  <a:srgbClr val="1C202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課題 3</a:t>
            </a:r>
            <a:endParaRPr lang="ja-JP" altLang="en-US" sz="1350" dirty="0"/>
          </a:p>
        </p:txBody>
      </p:sp>
      <p:sp>
        <p:nvSpPr>
          <p:cNvPr id="4" name="Text 1"/>
          <p:cNvSpPr txBox="1"/>
          <p:nvPr/>
        </p:nvSpPr>
        <p:spPr>
          <a:xfrm>
            <a:off x="2468880" y="34747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2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自分の「めんどう」を片づける</a:t>
            </a:r>
            <a:endParaRPr lang="ja-JP" alt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700" b="1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教訓 1　</a:t>
            </a:r>
            <a:pPr indent="0" marL="0">
              <a:buNone/>
            </a:pPr>
            <a:r>
              <a:rPr lang="ja-JP" altLang="en-US" sz="1700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よいソフトはすべて、開発者の個人的な悩み解決から始まる。</a:t>
            </a:r>
            <a:endParaRPr lang="ja-JP" altLang="en-US" sz="1700" dirty="0"/>
          </a:p>
        </p:txBody>
      </p:sp>
      <p:sp>
        <p:nvSpPr>
          <p:cNvPr id="6" name="codepanel"/>
          <p:cNvSpPr/>
          <p:nvPr/>
        </p:nvSpPr>
        <p:spPr>
          <a:xfrm>
            <a:off x="548640" y="1783080"/>
            <a:ext cx="11064240" cy="1125830"/>
          </a:xfrm>
          <a:prstGeom prst="roundRect">
            <a:avLst>
              <a:gd name="adj" fmla="val 6498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929384"/>
            <a:ext cx="10661904" cy="833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ja-JP" altLang="en-US" sz="1450" dirty="0">
                <a:solidFill>
                  <a:srgbClr val="5FA8E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Linux のターミナルで〔やりたいこと〕をしたいです。すでにあるコマンドを</a:t>
            </a:r>
            <a:endParaRPr lang="ja-JP" alt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ja-JP" altLang="en-US" sz="1450" dirty="0">
                <a:solidFill>
                  <a:srgbClr val="5FA8E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組み合わせる方法を1つだけ教えてください。新しいプログラムは書かないでください。</a:t>
            </a:r>
            <a:endParaRPr lang="ja-JP" alt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ja-JP" altLang="en-US" sz="1450" dirty="0">
                <a:solidFill>
                  <a:srgbClr val="5FA8E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使ったコマンドとオプションの意味を、1つずつ説明してください。</a:t>
            </a:r>
            <a:endParaRPr lang="ja-JP" alt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09179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50" b="1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思いつかなければ、この中から1つ</a:t>
            </a:r>
            <a:endParaRPr lang="ja-JP" alt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45755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ファイルがいくつあるか</a:t>
            </a:r>
            <a:endParaRPr lang="ja-JP" alt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303520" y="345755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50" dirty="0">
                <a:solidFill>
                  <a:srgbClr val="4FC3B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ls | wc -l</a:t>
            </a:r>
            <a:endParaRPr lang="ja-JP" altLang="en-US" sz="15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96047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numbers.txt でいちばん大きい数</a:t>
            </a:r>
            <a:endParaRPr lang="ja-JP" alt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96047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50" dirty="0">
                <a:solidFill>
                  <a:srgbClr val="4FC3B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sort -n numbers.txt | tail -1</a:t>
            </a:r>
            <a:endParaRPr lang="ja-JP" altLang="en-US" sz="15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446339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 を含む行がいくつあるか</a:t>
            </a:r>
            <a:endParaRPr lang="ja-JP" alt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303520" y="446339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50" dirty="0">
                <a:solidFill>
                  <a:srgbClr val="4FC3B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grep 7 numbers.txt | wc -l</a:t>
            </a:r>
            <a:endParaRPr lang="ja-JP" altLang="en-US" sz="1550" dirty="0"/>
          </a:p>
        </p:txBody>
      </p:sp>
      <p:sp>
        <p:nvSpPr>
          <p:cNvPr id="15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実行する前に、出てきたコマンドを1語ずつ説明できるか ／ rm ・ mv ・ &gt; は実行しない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C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38404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0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振り返りシートに書く（最後の15分）</a:t>
            </a:r>
            <a:endParaRPr lang="ja-JP" altLang="en-US" sz="3000" dirty="0"/>
          </a:p>
        </p:txBody>
      </p:sp>
      <p:graphicFrame>
        <p:nvGraphicFramePr>
          <p:cNvPr id="1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0149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E6EAF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列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E6EAF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書くこと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E6EAF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E6EAF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今日の難しさ（1〜5 の数字だけ）　1＝とても簡単 ／ 3＝ちょうどよい ／ 5＝とても難しい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E8A3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E8A3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間違っていたカードの番号と、それを確かめたコマンドを1文で　← 今日の本命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E6EAF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E6EAF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まだ分かっていないことを1つ（空欄禁止）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E6EAF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F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E6EAF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他の人の E列 に答える（自分の番号の前後5人ぶんだけ読む）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48640" y="3840480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141820"/>
          </a:solidFill>
          <a:ln w="19050">
            <a:solidFill>
              <a:srgbClr val="E8A317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22960" y="38404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b="1" dirty="0">
                <a:solidFill>
                  <a:srgbClr val="E8A3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D列の例　</a:t>
            </a:r>
            <a:pPr indent="0" marL="0">
              <a:buNone/>
            </a:pPr>
            <a:r>
              <a:rPr lang="ja-JP" altLang="en-US" sz="1600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B-2 は間違い。ls nofile のあとに echo $? を打ったら 2 が出た。失敗は 1 ではなく 0 以外</a:t>
            </a:r>
            <a:endParaRPr lang="ja-JP" altLang="en-US" sz="1600" dirty="0"/>
          </a:p>
        </p:txBody>
      </p:sp>
      <p:sp>
        <p:nvSpPr>
          <p:cNvPr id="7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シートの URL はこのあと画面に出します ／ 答えの出ていない E列 は、次週の冒頭に持ち越す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38404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0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宿題</a:t>
            </a:r>
            <a:endParaRPr lang="ja-JP" alt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5394960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280160"/>
            <a:ext cx="5394960" cy="82296"/>
          </a:xfrm>
          <a:prstGeom prst="rect">
            <a:avLst/>
          </a:prstGeom>
          <a:solidFill>
            <a:srgbClr val="0F6B6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15361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b="1" dirty="0">
                <a:solidFill>
                  <a:srgbClr val="0F6B6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課題 A ／ 必須 ・ 30分程度</a:t>
            </a:r>
            <a:endParaRPr lang="ja-JP" alt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1847088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0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地図と証言カードを、自分の言葉で</a:t>
            </a:r>
            <a:endParaRPr lang="ja-JP" alt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95728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ja-JP" altLang="en-US" sz="150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script で記録しながら、uname と両組のカードの確かめ方を打つ
</a:t>
            </a:r>
            <a:pPr indent="0" marL="0">
              <a:lnSpc>
                <a:spcPct val="140000"/>
              </a:lnSpc>
              <a:buNone/>
            </a:pPr>
            <a:r>
              <a:rPr lang="ja-JP" altLang="en-US" sz="15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問1　</a:t>
            </a:r>
            <a:pPr indent="0" marL="0">
              <a:lnSpc>
                <a:spcPct val="140000"/>
              </a:lnSpc>
              <a:buNone/>
            </a:pPr>
            <a:r>
              <a:rPr lang="ja-JP" altLang="en-US" sz="150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4段の地図に、課題1のコマンドを3つ以上置く
</a:t>
            </a:r>
            <a:pPr indent="0" marL="0">
              <a:lnSpc>
                <a:spcPct val="140000"/>
              </a:lnSpc>
              <a:buNone/>
            </a:pPr>
            <a:r>
              <a:rPr lang="ja-JP" altLang="en-US" sz="15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問2　</a:t>
            </a:r>
            <a:pPr indent="0" marL="0">
              <a:lnSpc>
                <a:spcPct val="140000"/>
              </a:lnSpc>
              <a:buNone/>
            </a:pPr>
            <a:r>
              <a:rPr lang="ja-JP" altLang="en-US" sz="150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 組・B 組の両方の間違いと、確かめ方
</a:t>
            </a:r>
            <a:pPr indent="0" marL="0">
              <a:lnSpc>
                <a:spcPct val="140000"/>
              </a:lnSpc>
              <a:buNone/>
            </a:pPr>
            <a:r>
              <a:rPr lang="ja-JP" altLang="en-US" sz="15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問3　</a:t>
            </a:r>
            <a:pPr indent="0" marL="0">
              <a:lnSpc>
                <a:spcPct val="140000"/>
              </a:lnSpc>
              <a:buNone/>
            </a:pPr>
            <a:r>
              <a:rPr lang="ja-JP" altLang="en-US" sz="150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教訓1と、課題3の自分の「めんどう」</a:t>
            </a:r>
            <a:endParaRPr lang="ja-JP" alt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217920" y="1280160"/>
            <a:ext cx="5394960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17920" y="1280160"/>
            <a:ext cx="5394960" cy="82296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92240" y="15361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b="1" dirty="0">
                <a:solidFill>
                  <a:srgbClr val="8A62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課題 B ／ 任意</a:t>
            </a:r>
            <a:endParaRPr lang="ja-JP" alt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6492240" y="1847088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0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Copilot に間違えさせる</a:t>
            </a:r>
            <a:endParaRPr lang="ja-JP" alt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6492240" y="2395728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ja-JP" altLang="en-US" sz="150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今日のコマンドについて、Copilot が間違った答えを返した例を1つ。
</a:t>
            </a:r>
            <a:pPr indent="0" marL="0">
              <a:lnSpc>
                <a:spcPct val="150000"/>
              </a:lnSpc>
              <a:buNone/>
            </a:pPr>
            <a:r>
              <a:rPr lang="ja-JP" altLang="en-US" sz="15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質問した文 ／ 返ってきた答え ／ 間違いだと確かめたコマンドと結果</a:t>
            </a:r>
            <a:pPr indent="0" marL="0">
              <a:lnSpc>
                <a:spcPct val="150000"/>
              </a:lnSpc>
              <a:buNone/>
            </a:pPr>
            <a:r>
              <a:rPr lang="ja-JP" altLang="en-US" sz="150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を貼る。</a:t>
            </a:r>
            <a:endParaRPr lang="ja-JP" alt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492240" y="43434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450" dirty="0">
                <a:solidFill>
                  <a:srgbClr val="8A6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見つからなくてもよい。何回・どんな聞き方をしたかを書けば提出として認める</a:t>
            </a:r>
            <a:endParaRPr lang="ja-JP" altLang="en-US" sz="1450" dirty="0"/>
          </a:p>
        </p:txBody>
      </p:sp>
      <p:sp>
        <p:nvSpPr>
          <p:cNvPr id="15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提出：eclass ／ syspro_w04_学籍番号.docx ／ 雛形は配布セットの中と eclass にある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C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8229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spc="200" kern="0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今日の1文</a:t>
            </a:r>
            <a:endParaRPr lang="ja-JP" alt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80160"/>
            <a:ext cx="1106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ja-JP" altLang="en-US" sz="38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コマンドの向こうには、カーネルがいる。</a:t>
            </a:r>
            <a:endParaRPr lang="ja-JP" altLang="en-US" sz="3800" dirty="0"/>
          </a:p>
          <a:p>
            <a:pPr indent="0" marL="0">
              <a:lnSpc>
                <a:spcPct val="135000"/>
              </a:lnSpc>
              <a:buNone/>
            </a:pPr>
            <a:r>
              <a:rPr lang="ja-JP" altLang="en-US" sz="38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AIの答えは、自分の手で確かめる。</a:t>
            </a:r>
            <a:endParaRPr lang="ja-JP" alt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548640" y="3063240"/>
            <a:ext cx="1280160" cy="54864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333756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ja-JP" altLang="en-US" sz="19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uname -r の向こうに、1991年から直され続けてきたカーネルがいた。
</a:t>
            </a:r>
            <a:pPr indent="0" marL="0">
              <a:lnSpc>
                <a:spcPct val="145000"/>
              </a:lnSpc>
              <a:buNone/>
            </a:pPr>
            <a:r>
              <a:rPr lang="ja-JP" altLang="en-US" sz="19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来週は、そのカーネルに自分で注文票を出す。</a:t>
            </a:r>
            <a:endParaRPr lang="ja-JP" altLang="en-US" sz="1900" dirty="0"/>
          </a:p>
        </p:txBody>
      </p:sp>
      <p:sp>
        <p:nvSpPr>
          <p:cNvPr id="7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次回　第5週目：ファイルを開くと、番号がもらえる（open ・ read ・ write ・ close）</a:t>
            </a:r>
            <a:endParaRPr lang="ja-JP" alt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第4週目 地図を手に入れる</dc:title>
  <dc:subject>PptxGenJS Presentation</dc:subject>
  <dc:creator>Takahiro Koita</dc:creator>
  <cp:lastModifiedBy>Takahiro Koita</cp:lastModifiedBy>
  <cp:revision>1</cp:revision>
  <dcterms:created xsi:type="dcterms:W3CDTF">2026-10-26T23:40:28Z</dcterms:created>
  <dcterms:modified xsi:type="dcterms:W3CDTF">2026-10-26T23:40:28Z</dcterms:modified>
</cp:coreProperties>
</file>