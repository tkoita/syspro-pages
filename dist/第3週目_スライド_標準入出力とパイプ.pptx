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今日は先週の続きです。先週は入口が壊れました。今日は出口が壊れます。最後に言えるようになってほしいのは一つだけ、「lsは何を見て色を出し分けているか」です。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この対称性が今日の設計です。先週と今日で、壊れる場所が入口から出口へ移っただけ。原因は同じです。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左が普通に動いた場合、右がパイプにつないで壊れた場合。コードは同じ。違うのは0番の先だけです。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プロセスは番号で外界とやり取りします。番号の先に何がつながっているかを、プログラム自身は見ていません。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この表は配布資料の用語集にもあります。覚えるのは番号と名前の対応だけで十分です。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リダイレクトもパイプもシェルの機能です。プログラムの機能ではありません。forkやdup2の仕組みはプロセスの回で扱います。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パイプの左の1番と右の0番が直結します。間に流れているのはただのテキストです。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ここで答えは言いません。まず学生に仮説を配布スライドのこのページに書かせます。Stage C のあとで自分で採点させます。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cat -A を打たせると、色がデータであることが一目でわかります。この体験がStage Bの伏線になります。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今日の核心です。プログラムはつなぎ先を知らないが、聞くことはできる。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45分の内訳です。Stage Bを飛ばすと今日は何も残りません。時間が押したらStage A-2を削ります。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このルールは、今日このあと何度も「それ wc でできるよ」と言わずに済ませるための仕掛けです。15秒という数字に意味はありません。『探すのは一瞬だけ』という上限を決めることが目的だと言ってください。右の○×が肝心です。既存コマンドに無い機能を書くのは正しい、という線引きを渡します。出典（教訓2）は振り返り（22枚目）で回収します。ここでは出典を説明しなくて構い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ng.txtが空だったか挙手させます。全員の手が挙がれば伝わっています。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このページが今日の学習効果の測定装置です。必ず書かせてください。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③に答えられれば、このあと何が起きるかは予想できます。予想させてから動かすと効果が上がります。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ここが今日の中心です。学生が驚いたことを確認してから次へ進みます。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C言語側とシェル側から同じ2番を見ていたことに気づけば、この回は成立しています。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3か所の変更そのものは数分で終わります。else側で色を消す理由を言えるかどうかが、この場面で見るところです。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400が出た人と、wc -lと一致した人をそれぞれ挙手させます。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今日の結論です。ここで終われれば、Stage Cは成功です。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1970年代から今日まで、wcもsortもgrepもパイプにつながれたら飾りを出しません。その理由がこの教訓です。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教訓2の「建設的な面倒くさがり」です。書く力より、書かずに済ませる判断のほうが効く、という話につなげてください。冒頭で渡した「書く前に、15秒」の出典をここで回収します。ルールの説明はもう済んでいるので、ここでは出典だけ見せれば十分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D列だけ見れば今日の成否が分かります。48名中35名以上書けていれば成功です。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課題Bは手が止まって正解です。プロセスが互いに独立していることの帰結で、プロセスの回で回収します。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最後に学生に声に出して読ませます。これが今週の軸文です。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システムプログラミング ／ 第 3 週目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標準入出力とパイプ</a:t>
            </a:r>
            <a:endParaRPr lang="ja-JP" alt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548640" y="256032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プログラムは、自分のつなぎ先を知らない。</a:t>
            </a:r>
            <a:endParaRPr lang="ja-JP" alt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しかし、カーネルに聞けば教えてもらえる。</a:t>
            </a:r>
            <a:endParaRPr lang="ja-JP" alt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4864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</a:t>
            </a:r>
            <a:endParaRPr lang="ja-JP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講義30 ／ 演習45 ／ 共有15</a:t>
            </a:r>
            <a:endParaRPr lang="ja-JP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9768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 ／ C言語 ／ gcc</a:t>
            </a:r>
            <a:endParaRPr lang="ja-JP" alt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4672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788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教材</a:t>
            </a:r>
            <a:endParaRPr lang="ja-JP" alt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Molay 2章</a:t>
            </a:r>
            <a:endParaRPr lang="ja-JP" altLang="en-US" sz="1500" dirty="0"/>
          </a:p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Linux標準教科書 6章</a:t>
            </a:r>
            <a:endParaRPr lang="ja-JP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A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8580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4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先週は「入口」が壊れた。</a:t>
            </a:r>
            <a:endParaRPr lang="ja-JP" altLang="en-US" sz="440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4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今日は「出口」が壊れる。</a:t>
            </a:r>
            <a:endParaRPr lang="ja-JP" altLang="en-US" sz="4400" dirty="0"/>
          </a:p>
        </p:txBody>
      </p:sp>
      <p:sp>
        <p:nvSpPr>
          <p:cNvPr id="4" name="card"/>
          <p:cNvSpPr/>
          <p:nvPr/>
        </p:nvSpPr>
        <p:spPr>
          <a:xfrm>
            <a:off x="54864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先週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more01 が壊れた</a:t>
            </a:r>
            <a:endParaRPr lang="ja-JP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0番がパイプに差し替えられたと知らずに読んだ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mywc01 が壊れる</a:t>
            </a:r>
            <a:endParaRPr lang="ja-JP" alt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1番がパイプに差し替えられたと知らずに書く</a:t>
            </a:r>
            <a:endParaRPr lang="ja-JP" alt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5A3D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どちらもコードは1文字も間違っていない。間違っているのは思い込みのほう。</a:t>
            </a:r>
            <a:endParaRPr lang="ja-JP" alt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先週、more01 の中で起きていたこと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81328"/>
            <a:ext cx="4992624" cy="384048"/>
          </a:xfrm>
          <a:prstGeom prst="rect">
            <a:avLst/>
          </a:prstGeom>
          <a:solidFill>
            <a:srgbClr val="EDE8DC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more numbers.txt</a:t>
            </a:r>
            <a:endParaRPr lang="ja-JP" alt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148840"/>
            <a:ext cx="1920240" cy="411480"/>
          </a:xfrm>
          <a:prstGeom prst="rect">
            <a:avLst/>
          </a:prstGeom>
          <a:solidFill>
            <a:srgbClr val="EDE8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numbers.txt</a:t>
            </a:r>
            <a:endParaRPr lang="ja-JP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88920" y="2267712"/>
            <a:ext cx="502920" cy="182880"/>
          </a:xfrm>
          <a:prstGeom prst="rightArrow">
            <a:avLst/>
          </a:prstGeom>
          <a:solidFill>
            <a:srgbClr val="5A62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0番</a:t>
            </a:r>
            <a:endParaRPr lang="ja-JP" alt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926080"/>
            <a:ext cx="1920240" cy="411480"/>
          </a:xfrm>
          <a:prstGeom prst="rect">
            <a:avLst/>
          </a:prstGeom>
          <a:solidFill>
            <a:srgbClr val="EDE8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</a:t>
            </a:r>
            <a:endParaRPr lang="ja-JP" alt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88920" y="3044952"/>
            <a:ext cx="502920" cy="182880"/>
          </a:xfrm>
          <a:prstGeom prst="rightArrow">
            <a:avLst/>
          </a:prstGeom>
          <a:solidFill>
            <a:srgbClr val="5A62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端末</a:t>
            </a:r>
            <a:endParaRPr lang="ja-JP" alt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931920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を押すと止まった。読む先と押す先が別だったから。</a:t>
            </a:r>
            <a:endParaRPr lang="ja-JP" alt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217920" y="128016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25400">
            <a:solidFill>
              <a:srgbClr val="BE3E1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19088" y="1481328"/>
            <a:ext cx="4992624" cy="384048"/>
          </a:xfrm>
          <a:prstGeom prst="rect">
            <a:avLst/>
          </a:prstGeom>
          <a:solidFill>
            <a:srgbClr val="FAE5DD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cat numbers.txt | ./more01</a:t>
            </a:r>
            <a:endParaRPr lang="ja-JP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19088" y="2148840"/>
            <a:ext cx="1920240" cy="411480"/>
          </a:xfrm>
          <a:prstGeom prst="rect">
            <a:avLst/>
          </a:prstGeom>
          <a:solidFill>
            <a:srgbClr val="EDE8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 の出力</a:t>
            </a:r>
            <a:endParaRPr lang="ja-JP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2267712"/>
            <a:ext cx="502920" cy="182880"/>
          </a:xfrm>
          <a:prstGeom prst="rightArrow">
            <a:avLst/>
          </a:prstGeom>
          <a:solidFill>
            <a:srgbClr val="5A62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5256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0番</a:t>
            </a:r>
            <a:endParaRPr lang="ja-JP" alt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6419088" y="2926080"/>
            <a:ext cx="1920240" cy="411480"/>
          </a:xfrm>
          <a:prstGeom prst="rect">
            <a:avLst/>
          </a:prstGeom>
          <a:solidFill>
            <a:srgbClr val="FAE5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</a:t>
            </a:r>
            <a:endParaRPr lang="ja-JP" alt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458200" y="3044952"/>
            <a:ext cx="502920" cy="182880"/>
          </a:xfrm>
          <a:prstGeom prst="rightArrow">
            <a:avLst/>
          </a:prstGeom>
          <a:solidFill>
            <a:srgbClr val="BE3E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5256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どこにもつながっていない</a:t>
            </a:r>
            <a:endParaRPr lang="ja-JP" alt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6419088" y="3931920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を押しても止まらない。cat の出力を読んでいた。</a:t>
            </a:r>
            <a:endParaRPr lang="ja-JP" altLang="en-US" sz="1450" dirty="0"/>
          </a:p>
        </p:txBody>
      </p:sp>
      <p:sp>
        <p:nvSpPr>
          <p:cNvPr id="22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more01 のコードには「0番から読む」としか書かれていない。0番の先がどこかは、どこにも書かれていない。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プロセスが外の世界を知る手段は、番号だけ</a:t>
            </a:r>
            <a:endParaRPr lang="ja-JP" alt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48840"/>
            <a:ext cx="1828800" cy="548640"/>
          </a:xfrm>
          <a:prstGeom prst="rect">
            <a:avLst/>
          </a:prstGeom>
          <a:solidFill>
            <a:srgbClr val="171C24"/>
          </a:solidFill>
          <a:ln w="19050">
            <a:solidFill>
              <a:srgbClr val="3C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5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</a:t>
            </a:r>
            <a:endParaRPr lang="ja-JP" alt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154680"/>
            <a:ext cx="1828800" cy="548640"/>
          </a:xfrm>
          <a:prstGeom prst="rect">
            <a:avLst/>
          </a:prstGeom>
          <a:solidFill>
            <a:srgbClr val="171C24"/>
          </a:solidFill>
          <a:ln w="19050">
            <a:solidFill>
              <a:srgbClr val="3C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5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　面</a:t>
            </a:r>
            <a:endParaRPr lang="ja-JP" alt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160520"/>
            <a:ext cx="1828800" cy="548640"/>
          </a:xfrm>
          <a:prstGeom prst="rect">
            <a:avLst/>
          </a:prstGeom>
          <a:solidFill>
            <a:srgbClr val="171C24"/>
          </a:solidFill>
          <a:ln w="19050">
            <a:solidFill>
              <a:srgbClr val="3C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5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　面</a:t>
            </a:r>
            <a:endParaRPr lang="ja-JP" alt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2240280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5FA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9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</a:t>
            </a:r>
            <a:endParaRPr lang="ja-JP" alt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3246120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5FA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9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ja-JP" alt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4251960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5FA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9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ja-JP" alt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724912" y="2350008"/>
            <a:ext cx="603504" cy="146304"/>
          </a:xfrm>
          <a:prstGeom prst="rightArrow">
            <a:avLst/>
          </a:prstGeom>
          <a:solidFill>
            <a:srgbClr val="5FA8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42232" y="2350008"/>
            <a:ext cx="1143000" cy="146304"/>
          </a:xfrm>
          <a:prstGeom prst="rightArrow">
            <a:avLst/>
          </a:prstGeom>
          <a:solidFill>
            <a:srgbClr val="5FA8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42232" y="3355848"/>
            <a:ext cx="1143000" cy="146304"/>
          </a:xfrm>
          <a:prstGeom prst="leftArrow">
            <a:avLst/>
          </a:prstGeom>
          <a:solidFill>
            <a:srgbClr val="5FA8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24912" y="3355848"/>
            <a:ext cx="603504" cy="146304"/>
          </a:xfrm>
          <a:prstGeom prst="leftArrow">
            <a:avLst/>
          </a:prstGeom>
          <a:solidFill>
            <a:srgbClr val="5FA8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42232" y="4361688"/>
            <a:ext cx="1143000" cy="146304"/>
          </a:xfrm>
          <a:prstGeom prst="leftArrow">
            <a:avLst/>
          </a:prstGeom>
          <a:solidFill>
            <a:srgbClr val="5FA8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24912" y="4361688"/>
            <a:ext cx="603504" cy="146304"/>
          </a:xfrm>
          <a:prstGeom prst="leftArrow">
            <a:avLst/>
          </a:prstGeom>
          <a:solidFill>
            <a:srgbClr val="5FA8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0" y="2011680"/>
            <a:ext cx="5577840" cy="2788920"/>
          </a:xfrm>
          <a:prstGeom prst="roundRect">
            <a:avLst>
              <a:gd name="adj" fmla="val 2295"/>
            </a:avLst>
          </a:prstGeom>
          <a:solidFill>
            <a:srgbClr val="141820"/>
          </a:solidFill>
          <a:ln w="31750">
            <a:solidFill>
              <a:srgbClr val="5FA8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あなたのプログラム</a:t>
            </a:r>
            <a:endParaRPr lang="ja-JP" alt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getchar()        →  0番から読む</a:t>
            </a:r>
            <a:endParaRPr lang="ja-JP" alt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printf()         →  1番へ書く</a:t>
            </a:r>
            <a:endParaRPr lang="ja-JP" alt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fprintf(stderr)  →  2番へ書く</a:t>
            </a:r>
            <a:endParaRPr lang="ja-JP" alt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3840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番号の先に何があるかは、
</a:t>
            </a:r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コードのどこにも書かれていない</a:t>
            </a:r>
            <a:endParaRPr lang="ja-JP" altLang="en-US" sz="1550" dirty="0"/>
          </a:p>
        </p:txBody>
      </p:sp>
      <p:sp>
        <p:nvSpPr>
          <p:cNvPr id="2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= 標準入力　／　1 = 標準出力　／　2 = 標準エラー出力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3本の口に、名前を与える</a:t>
            </a:r>
            <a:endParaRPr lang="ja-JP" alt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42062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番号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名前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C言語では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既定のつなぎ先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標準入力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stdin ／ getchar() が読む先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キーボード（端末）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標準出力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stdout ／ printf() が書く先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画面（端末）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標準エラー出力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stderr ／ fprintf(stderr, …)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画面（端末）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5661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C2027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68680" y="3840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3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「既定の」ということは、変えられるということ</a:t>
            </a:r>
            <a:endParaRPr lang="ja-JP" altLang="en-US" sz="23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そして変えるのは、プログラムではない。</a:t>
            </a:r>
            <a:endParaRPr lang="ja-JP" altLang="en-US" sz="1600" dirty="0"/>
          </a:p>
        </p:txBody>
      </p:sp>
      <p:sp>
        <p:nvSpPr>
          <p:cNvPr id="8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1番と2番が分かれているから、「結果はファイルへ、エラーは画面へ」ができる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差し替えているのは、シェルである</a:t>
            </a:r>
            <a:endParaRPr lang="ja-JP" alt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コマンドライン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0番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1番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2番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./a.out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./a.out &gt; out.txt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8A3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out.txt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./a.out &lt; in.txt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8A3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in.txt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./a.out 2&gt; err.txt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8A3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err.txt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./a.out | ./b.out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5FA8E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パイプ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20624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49808" y="43891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5つとも a.out のソースは1文字も違わない</a:t>
            </a:r>
            <a:endParaRPr lang="ja-JP" alt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17920" y="420624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19088" y="4389120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a.out は差し替えられたことを知らない</a:t>
            </a:r>
            <a:endParaRPr lang="ja-JP" altLang="en-US" sz="1600" dirty="0"/>
          </a:p>
        </p:txBody>
      </p:sp>
      <p:sp>
        <p:nvSpPr>
          <p:cNvPr id="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知らなくていいからこそ、sort はファイルにもパイプにも端末にもつなげる ── 強さと事故は同じ設計から出ている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パイプの正体</a:t>
            </a:r>
            <a:endParaRPr lang="ja-JP" alt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4023360" cy="457200"/>
          </a:xfrm>
          <a:prstGeom prst="rect">
            <a:avLst/>
          </a:prstGeom>
          <a:solidFill>
            <a:srgbClr val="EDE8D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ja-JP" altLang="en-US" sz="1900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/usr/bin | wc -l</a:t>
            </a:r>
            <a:endParaRPr lang="ja-JP" alt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9260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5400">
            <a:solidFill>
              <a:srgbClr val="D8D2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</a:t>
            </a:r>
            <a:endParaRPr lang="ja-JP" alt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1番へ書く</a:t>
            </a:r>
            <a:endParaRPr lang="ja-JP" alt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0" y="2103120"/>
            <a:ext cx="29260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5400">
            <a:solidFill>
              <a:srgbClr val="D8D2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wc -l</a:t>
            </a:r>
            <a:endParaRPr lang="ja-JP" alt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0番から読む</a:t>
            </a:r>
            <a:endParaRPr lang="ja-JP" alt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257860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ja-JP" alt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57860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</a:t>
            </a:r>
            <a:endParaRPr lang="ja-JP" alt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74720" y="2752344"/>
            <a:ext cx="384048" cy="0"/>
          </a:xfrm>
          <a:prstGeom prst="line">
            <a:avLst/>
          </a:prstGeom>
          <a:noFill/>
          <a:ln w="38100">
            <a:solidFill>
              <a:srgbClr val="1668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679192"/>
            <a:ext cx="2606040" cy="146304"/>
          </a:xfrm>
          <a:prstGeom prst="rightArrow">
            <a:avLst/>
          </a:prstGeom>
          <a:solidFill>
            <a:srgbClr val="166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0" y="2752344"/>
            <a:ext cx="822960" cy="0"/>
          </a:xfrm>
          <a:prstGeom prst="line">
            <a:avLst/>
          </a:prstGeom>
          <a:noFill/>
          <a:ln w="38100">
            <a:solidFill>
              <a:srgbClr val="1668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1本の管で直結</a:t>
            </a:r>
            <a:endParaRPr lang="ja-JP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971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流れているのは改行区切りのテキスト</a:t>
            </a:r>
            <a:endParaRPr lang="ja-JP" alt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C202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418795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cut・sort・uniq・grep・wc・head・tail・tr ── 全部が同じ形をしている</a:t>
            </a:r>
            <a:endParaRPr lang="ja-JP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6360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「0番から読んで、1番に書く」。形が同じだから、どの順番でもつながる。</a:t>
            </a:r>
            <a:endParaRPr lang="ja-JP" altLang="en-US" sz="1550" dirty="0"/>
          </a:p>
        </p:txBody>
      </p:sp>
      <p:sp>
        <p:nvSpPr>
          <p:cNvPr id="2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この形をしたコマンドを「フィルタ」と呼ぶ　／　Linux標準教科書 6章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同じコマンドなのに、出力が変わる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ls --color=auto</a:t>
            </a:r>
            <a:endParaRPr lang="ja-JP" alt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28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bin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boot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etc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home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lib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usr</a:t>
            </a:r>
            <a:endParaRPr lang="ja-JP" alt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色がつく</a:t>
            </a:r>
            <a:endParaRPr lang="ja-JP" alt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32588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481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ls --color=auto | cat</a:t>
            </a:r>
            <a:endParaRPr lang="ja-JP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828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bin  boot  etc</a:t>
            </a:r>
            <a:endParaRPr lang="ja-JP" alt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home  lib  usr</a:t>
            </a:r>
            <a:endParaRPr lang="ja-JP" alt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色が消える</a:t>
            </a:r>
            <a:endParaRPr lang="ja-JP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E8A31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749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コマンドラインは1文字も変えていない。</a:t>
            </a:r>
            <a:endParaRPr lang="ja-JP" alt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ls は、</a:t>
            </a:r>
            <a:pPr indent="0" marL="0"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何を見て</a:t>
            </a:r>
            <a:pPr indent="0" marL="0">
              <a:buNone/>
            </a:pPr>
            <a:r>
              <a:rPr lang="ja-JP" altLang="en-US" sz="20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決めたのか。</a:t>
            </a:r>
            <a:endParaRPr lang="ja-JP" altLang="en-US" sz="2000" dirty="0"/>
          </a:p>
        </p:txBody>
      </p:sp>
      <p:sp>
        <p:nvSpPr>
          <p:cNvPr id="15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この問いに1文で答えられることが、今日の合格ライン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「色」の正体は、混ぜ込まれた見えない文字</a:t>
            </a:r>
            <a:endParaRPr lang="ja-JP" altLang="en-US" sz="3000" dirty="0"/>
          </a:p>
        </p:txBody>
      </p:sp>
      <p:sp>
        <p:nvSpPr>
          <p:cNvPr id="4" name="codepanel"/>
          <p:cNvSpPr/>
          <p:nvPr/>
        </p:nvSpPr>
        <p:spPr>
          <a:xfrm>
            <a:off x="548640" y="13258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C2027"/>
          </a:solidFill>
          <a:ln w="12700">
            <a:solidFill>
              <a:srgbClr val="1C202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72184"/>
            <a:ext cx="10661904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AFB7C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ls --color=always | cat -A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^[[01;34m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usr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^[[0m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</a:t>
            </a:r>
            <a:endParaRPr lang="ja-JP" alt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48640" y="269748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8803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人間が見ると</a:t>
            </a:r>
            <a:endParaRPr lang="ja-JP" alt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300984"/>
            <a:ext cx="4992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青い「usr」という1語</a:t>
            </a:r>
            <a:endParaRPr lang="ja-JP" altLang="en-US" sz="1550" dirty="0"/>
          </a:p>
        </p:txBody>
      </p:sp>
      <p:sp>
        <p:nvSpPr>
          <p:cNvPr id="9" name="card"/>
          <p:cNvSpPr/>
          <p:nvPr/>
        </p:nvSpPr>
        <p:spPr>
          <a:xfrm>
            <a:off x="6217920" y="269748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668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9088" y="28803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機械が読むと</a:t>
            </a:r>
            <a:endParaRPr lang="ja-JP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3300984"/>
            <a:ext cx="4992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ESC [ 0 1 ; 3 4 m u s r ESC [ 0 m という文字の列</a:t>
            </a:r>
            <a:endParaRPr lang="ja-JP" alt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^[</a:t>
            </a:r>
            <a:pPr indent="0" marL="0">
              <a:buNone/>
            </a:pPr>
            <a:r>
              <a:rPr lang="ja-JP" altLang="en-US" sz="18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 ESC という1文字。画面には見えないが、データとしては確かに存在する。</a:t>
            </a:r>
            <a:endParaRPr lang="ja-JP" altLang="en-US" sz="1800" dirty="0"/>
          </a:p>
        </p:txBody>
      </p:sp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 -A は、行末の $ も含めて「全部」を見せるコマンド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答え：ls は、カーネルに聞いている</a:t>
            </a:r>
            <a:endParaRPr lang="ja-JP" altLang="en-US" sz="3000" dirty="0"/>
          </a:p>
        </p:txBody>
      </p:sp>
      <p:sp>
        <p:nvSpPr>
          <p:cNvPr id="4" name="codepanel"/>
          <p:cNvSpPr/>
          <p:nvPr/>
        </p:nvSpPr>
        <p:spPr>
          <a:xfrm>
            <a:off x="548640" y="1325880"/>
            <a:ext cx="11064240" cy="2319325"/>
          </a:xfrm>
          <a:prstGeom prst="roundRect">
            <a:avLst>
              <a:gd name="adj" fmla="val 315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72184"/>
            <a:ext cx="10661904" cy="2026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#include &lt;unistd.h&gt;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if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(isatty(1)) {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/* 1番の先は端末ですか？ */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... 色をつけて出す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/* 人間が見るから */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}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else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{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... 素のまま出す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/* 機械が読むから */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}</a:t>
            </a:r>
            <a:endParaRPr lang="ja-JP" alt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48640" y="36576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端末なら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そうでなければ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114800" y="3657600"/>
            <a:ext cx="749808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43400" y="38862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先週の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b="1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/dev/tty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は「聞かずに端末をつかみに行く」方法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b="1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isatty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は「まず聞く」方法</a:t>
            </a:r>
            <a:endParaRPr lang="ja-JP" altLang="en-US" sz="160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more01 は聞かなかった。mywc01 も聞かない。ls は聞いていた ── 違いはそれだけ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ここから45分、手を動かす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35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71600"/>
            <a:ext cx="3535680" cy="8229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27632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A ／ 12分</a:t>
            </a:r>
            <a:endParaRPr lang="ja-JP" alt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観察する</a:t>
            </a:r>
            <a:endParaRPr lang="ja-JP" alt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50592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本物のコマンドで、リダイレクトとパイプを打つ。ls の色が消える瞬間を見る。</a:t>
            </a:r>
            <a:endParaRPr lang="ja-JP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12920" y="1371600"/>
            <a:ext cx="3535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2920" y="1371600"/>
            <a:ext cx="3535680" cy="82296"/>
          </a:xfrm>
          <a:prstGeom prst="rect">
            <a:avLst/>
          </a:prstGeom>
          <a:solidFill>
            <a:srgbClr val="BE3E1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41520" y="1627632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B ／ 18分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41520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壊す</a:t>
            </a:r>
            <a:endParaRPr lang="ja-JP" alt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541520" y="2450592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自作の mywc01 を動かし、パイプにつないで使いものにならなくする。</a:t>
            </a:r>
            <a:endParaRPr lang="ja-JP" alt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77200" y="1371600"/>
            <a:ext cx="35356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77200" y="1371600"/>
            <a:ext cx="3535680" cy="82296"/>
          </a:xfrm>
          <a:prstGeom prst="rect">
            <a:avLst/>
          </a:prstGeom>
          <a:solidFill>
            <a:srgbClr val="0F6B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05800" y="1627632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F6B6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C ／ 15分</a:t>
            </a:r>
            <a:endParaRPr lang="ja-JP" alt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305800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直す</a:t>
            </a:r>
            <a:endParaRPr lang="ja-JP" alt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305800" y="2450592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isatty で、本物と同じ方法で直す。シェルスクリプトの部品にする。</a:t>
            </a:r>
            <a:endParaRPr lang="ja-JP" alt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1C202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4096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cd ~/syspro/week04</a:t>
            </a:r>
            <a:endParaRPr lang="ja-JP" alt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453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今日の作業場所。配布された numbers.txt（200行）をここに置く。</a:t>
            </a:r>
            <a:endParaRPr lang="ja-JP" altLang="en-US" sz="1550" dirty="0"/>
          </a:p>
        </p:txBody>
      </p:sp>
      <p:sp>
        <p:nvSpPr>
          <p:cNvPr id="22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 → 破壊 → 修正　／　詰まったら配布資料の「困ったとき」の表へ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今日のルール ── 書く前に、15秒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0700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1C202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38988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何かを作ろうとしたら、15秒だけ </a:t>
            </a:r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「既存のコマンドの組み合わせで済まないか」</a:t>
            </a:r>
            <a:pPr indent="0" marL="0">
              <a:buNone/>
            </a:pPr>
            <a:r>
              <a:rPr lang="ja-JP" altLang="en-US" sz="19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を考える。</a:t>
            </a:r>
            <a:endParaRPr lang="ja-JP" altLang="en-US" sz="1900" dirty="0"/>
          </a:p>
        </p:txBody>
      </p:sp>
      <p:sp>
        <p:nvSpPr>
          <p:cNvPr id="6" name="card"/>
          <p:cNvSpPr/>
          <p:nvPr/>
        </p:nvSpPr>
        <p:spPr>
          <a:xfrm>
            <a:off x="548640" y="2212848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395728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WHAT TO ASK</a:t>
            </a:r>
            <a:endParaRPr lang="ja-JP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670048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15秒で、自分にこの3つを聞く</a:t>
            </a:r>
            <a:endParaRPr lang="ja-JP" alt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090672"/>
            <a:ext cx="49469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3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　この処理に、名前はついていないか
</a:t>
            </a:r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数える→wc　選ぶ→grep　並べる→sort
</a:t>
            </a:r>
            <a:pPr indent="0" marL="0">
              <a:lnSpc>
                <a:spcPct val="130000"/>
              </a:lnSpc>
              <a:buNone/>
            </a:pPr>
            <a:r>
              <a:rPr lang="ja-JP" altLang="en-US" sz="13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　パイプでつなげば、済まないか
</a:t>
            </a:r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1つで無理でも、2つ3つつなげば届く
</a:t>
            </a:r>
            <a:pPr indent="0" marL="0">
              <a:lnSpc>
                <a:spcPct val="130000"/>
              </a:lnSpc>
              <a:buNone/>
            </a:pPr>
            <a:r>
              <a:rPr lang="ja-JP" altLang="en-US" sz="13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　man -k で、探したか
</a:t>
            </a:r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man -k count のようにキーワードから引ける</a:t>
            </a:r>
            <a:endParaRPr lang="ja-JP" alt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6263640" y="2212848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141820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4808" y="2395728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×　書かない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64808" y="2670048"/>
            <a:ext cx="4946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3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「ファイルの行数を数えるCを書く」
</a:t>
            </a:r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wc -l がもうある。50年バグが出ていない。</a:t>
            </a:r>
            <a:endParaRPr lang="ja-JP" altLang="en-US" sz="1350" dirty="0"/>
          </a:p>
        </p:txBody>
      </p:sp>
      <p:sp>
        <p:nvSpPr>
          <p:cNvPr id="13" name="card"/>
          <p:cNvSpPr/>
          <p:nvPr/>
        </p:nvSpPr>
        <p:spPr>
          <a:xfrm>
            <a:off x="6263640" y="3557016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141820"/>
          </a:solidFill>
          <a:ln w="19050">
            <a:solidFill>
              <a:srgbClr val="4FC3B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64808" y="3739896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○　書く</a:t>
            </a:r>
            <a:endParaRPr lang="ja-JP" alt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464808" y="4014216"/>
            <a:ext cx="4946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3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「端末かどうかで出力を変える」
</a:t>
            </a:r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wc -l には無い。だから今日これを書く。</a:t>
            </a:r>
            <a:endParaRPr lang="ja-JP" alt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864608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0109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15秒たって出てこなければ、書く。</a:t>
            </a:r>
            <a:endParaRPr lang="ja-JP" alt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35838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考え込むためのルールではなく、考えすぎないためのルールです。探すのに10分かけるなら、書いたほうが早い。</a:t>
            </a:r>
            <a:endParaRPr lang="ja-JP" altLang="en-US" sz="1500" dirty="0"/>
          </a:p>
        </p:txBody>
      </p:sp>
      <p:sp>
        <p:nvSpPr>
          <p:cNvPr id="1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sort を自作する人はいない ── パイプは「書かずに済ませる」ための技術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A-1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3本の口を、別々の場所に送る</a:t>
            </a:r>
            <a:endParaRPr lang="ja-JP" altLang="en-US" sz="3400" dirty="0"/>
          </a:p>
        </p:txBody>
      </p:sp>
      <p:sp>
        <p:nvSpPr>
          <p:cNvPr id="5" name="codepanel"/>
          <p:cNvSpPr/>
          <p:nvPr/>
        </p:nvSpPr>
        <p:spPr>
          <a:xfrm>
            <a:off x="548640" y="1143000"/>
            <a:ext cx="11064240" cy="1766621"/>
          </a:xfrm>
          <a:prstGeom prst="roundRect">
            <a:avLst>
              <a:gd name="adj" fmla="val 414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89304"/>
            <a:ext cx="10661904" cy="1474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/usr &gt; ok.txt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/nonexistent &gt; ng.txt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エラーは入るか？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cat ng.txt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/nonexistent 2&gt; err.txt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今度は？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/nonexistent &gt; all.txt 2&gt;&amp;1</a:t>
            </a:r>
            <a:endParaRPr lang="ja-JP" alt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3183941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3366821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pPr indent="0" marL="0">
              <a:lnSpc>
                <a:spcPct val="125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ng.txt は空だったか</a:t>
            </a:r>
            <a:endParaRPr lang="ja-JP" alt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12920" y="3183941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14088" y="3366821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pPr indent="0" marL="0">
              <a:lnSpc>
                <a:spcPct val="125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2&gt; と &gt; は何が違うか</a:t>
            </a:r>
            <a:endParaRPr lang="ja-JP" alt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8077200" y="3183941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8368" y="3366821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pPr indent="0" marL="0">
              <a:lnSpc>
                <a:spcPct val="125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2&gt;&amp;1 を日本語にすると</a:t>
            </a:r>
            <a:endParaRPr lang="ja-JP" alt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326941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エラーメッセージは1番ではなく2番から出ている。だから &gt; では捕まえられない。</a:t>
            </a:r>
            <a:endParaRPr lang="ja-JP" altLang="en-US" sz="18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Linux標準教科書 6.2 / 6.3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A-3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色が消える瞬間を、自分の画面で</a:t>
            </a:r>
            <a:endParaRPr lang="ja-JP" altLang="en-US" sz="3400" dirty="0"/>
          </a:p>
        </p:txBody>
      </p:sp>
      <p:sp>
        <p:nvSpPr>
          <p:cNvPr id="5" name="codepanel"/>
          <p:cNvSpPr/>
          <p:nvPr/>
        </p:nvSpPr>
        <p:spPr>
          <a:xfrm>
            <a:off x="548640" y="1143000"/>
            <a:ext cx="11064240" cy="1490269"/>
          </a:xfrm>
          <a:prstGeom prst="roundRect">
            <a:avLst>
              <a:gd name="adj" fmla="val 4909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89304"/>
            <a:ext cx="10661904" cy="1197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--color=auto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--color=auto | cat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--color=auto | cat -A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ls --color=always | cat -A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^[[01;34m が見えるか</a:t>
            </a:r>
            <a:endParaRPr lang="ja-JP" alt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907589"/>
            <a:ext cx="11064240" cy="1691640"/>
          </a:xfrm>
          <a:prstGeom prst="roundRect">
            <a:avLst>
              <a:gd name="adj" fmla="val 3784"/>
            </a:avLst>
          </a:prstGeom>
          <a:solidFill>
            <a:srgbClr val="E8A31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090469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3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このページに1文で書く（1分）</a:t>
            </a:r>
            <a:endParaRPr lang="ja-JP" alt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47669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「ls は、何を見て、色を出すか出さないかを決めているのか」</a:t>
            </a:r>
            <a:endParaRPr lang="ja-JP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004869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5A3D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正解でなくていい。Stage C のあとで、自分で採点する。</a:t>
            </a:r>
            <a:endParaRPr lang="ja-JP" altLang="en-US" sz="1550" dirty="0"/>
          </a:p>
        </p:txBody>
      </p:sp>
      <p:sp>
        <p:nvSpPr>
          <p:cNvPr id="1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先生の画面と違う場合は alias ls と打つ ── 環境によって ls に色がつく設定が入っている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B-1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mywc01.c ── まだコンパイルしない</a:t>
            </a:r>
            <a:endParaRPr lang="ja-JP" altLang="en-US" sz="3400" dirty="0"/>
          </a:p>
        </p:txBody>
      </p:sp>
      <p:sp>
        <p:nvSpPr>
          <p:cNvPr id="5" name="codepanel"/>
          <p:cNvSpPr/>
          <p:nvPr/>
        </p:nvSpPr>
        <p:spPr>
          <a:xfrm>
            <a:off x="548640" y="1143000"/>
            <a:ext cx="5943600" cy="3531819"/>
          </a:xfrm>
          <a:prstGeom prst="roundRect">
            <a:avLst>
              <a:gd name="adj" fmla="val 207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89304"/>
            <a:ext cx="5541264" cy="323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/* 行数を数える : バージョン 0.1 */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#include &lt;stdio.h&gt;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int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main(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void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{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int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c;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long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lines = 0;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while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((c = getchar()) != EOF)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if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(c == 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'\n'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    lines++;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printf(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"\033[1;36m======================\033[m\n"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printf(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  行数 : \033[1;32m%ld\033[m 行\n"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, lines);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return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0;
</a:t>
            </a:r>
            <a:pPr indent="0" marL="0">
              <a:lnSpc>
                <a:spcPct val="135000"/>
              </a:lnSpc>
              <a:buNone/>
            </a:pPr>
            <a:r>
              <a:rPr lang="ja-JP" altLang="en-US" sz="11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}</a:t>
            </a:r>
            <a:endParaRPr lang="ja-JP" alt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143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読んでから答える3問</a:t>
            </a:r>
            <a:endParaRPr lang="ja-JP" alt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766560" y="1627632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67728" y="1792224"/>
            <a:ext cx="44439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0番から読んでいるか、ファイルから読んでいるか</a:t>
            </a:r>
            <a:endParaRPr lang="ja-JP" alt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66560" y="2587752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67728" y="2752344"/>
            <a:ext cx="44439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\033[1;32m は何か</a:t>
            </a:r>
            <a:endParaRPr lang="ja-JP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66560" y="3547872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141820"/>
          </a:solidFill>
          <a:ln w="25400">
            <a:solidFill>
              <a:srgbClr val="BE3E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67728" y="3712464"/>
            <a:ext cx="4443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受け取るのは人間か、機械か。このプログラムはどちらだと決めつけているか</a:t>
            </a:r>
            <a:endParaRPr lang="ja-JP" altLang="en-US" sz="15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③が今日の急所　／　ファイル名はコードのどこにも書かれていない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E3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B-3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壊れる瞬間</a:t>
            </a:r>
            <a:endParaRPr lang="ja-JP" alt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5394960" cy="2395728"/>
          </a:xfrm>
          <a:prstGeom prst="roundRect">
            <a:avLst>
              <a:gd name="adj" fmla="val 2672"/>
            </a:avLst>
          </a:prstGeom>
          <a:solidFill>
            <a:srgbClr val="1C202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3716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dirty="0">
                <a:solidFill>
                  <a:srgbClr val="AFB7C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./mywc01 &lt; numbers.txt</a:t>
            </a:r>
            <a:endParaRPr lang="ja-JP" alt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83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======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行数 : 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200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行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======</a:t>
            </a:r>
            <a:endParaRPr lang="ja-JP" alt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723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よくできているように見える</a:t>
            </a:r>
            <a:endParaRPr lang="ja-JP" alt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188720"/>
            <a:ext cx="5394960" cy="2395728"/>
          </a:xfrm>
          <a:prstGeom prst="roundRect">
            <a:avLst>
              <a:gd name="adj" fmla="val 2672"/>
            </a:avLst>
          </a:prstGeom>
          <a:solidFill>
            <a:srgbClr val="1C2027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3716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AFB7C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N=$(./mywc01 &lt; numbers.txt)</a:t>
            </a:r>
            <a:endParaRPr lang="ja-JP" alt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AFB7C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echo $((N * 2))</a:t>
            </a:r>
            <a:endParaRPr lang="ja-JP" alt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1762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00" dirty="0">
                <a:solidFill>
                  <a:srgbClr val="FF9D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bash: ...: syntax error:</a:t>
            </a:r>
            <a:endParaRPr lang="ja-JP" alt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400" dirty="0">
                <a:solidFill>
                  <a:srgbClr val="FF9D7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operand expected</a:t>
            </a:r>
            <a:endParaRPr lang="ja-JP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8712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数として読めない</a:t>
            </a:r>
            <a:endParaRPr lang="ja-JP" alt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2186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（文言はシェルと言語設定で変わる）</a:t>
            </a:r>
            <a:endParaRPr lang="ja-JP" alt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11064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38587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mywc01 は </a:t>
            </a:r>
            <a:pPr indent="0" marL="0">
              <a:buNone/>
            </a:pPr>
            <a:r>
              <a:rPr lang="ja-JP" altLang="en-US" sz="18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pPr indent="0" marL="0">
              <a:buNone/>
            </a:pPr>
            <a:r>
              <a:rPr lang="ja-JP" altLang="en-US" sz="18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を出したつもりでいる。しかし N に入ったのは、飾りの枠まで含めた3行ぶん</a:t>
            </a:r>
            <a:endParaRPr lang="ja-JP" alt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3159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ESC [ 1 ; 3 6 m = = = …  ESC [ 1 ; 3 2 m 2 0 0 ESC [ m  …</a:t>
            </a:r>
            <a:endParaRPr lang="ja-JP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846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人間の目には 200 に見える。機械には見えない。エラーが ====== を指すのは、そこが先頭だから。</a:t>
            </a:r>
            <a:endParaRPr lang="ja-JP" alt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FFE0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more01 と同じ。コードは1文字も間違っていない。間違っているのは「1番の先には人間がいる」という思い込み。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B-4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カーネルに聞いてみる</a:t>
            </a:r>
            <a:endParaRPr lang="ja-JP" altLang="en-US" sz="34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打つコマンド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0番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1番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2番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./whereami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./whereami | cat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5FA8E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端末でない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echo hi | ./whereami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5FA8E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端末でない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./whereami &gt; log.txt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5FA8E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端末でない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端末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356616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3794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報告が画面から消えないのは、</a:t>
            </a:r>
            <a:pPr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2番に出しているから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356616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46520" y="3794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 </a:t>
            </a:r>
            <a:pPr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fprintf(stderr, …)</a:t>
            </a:r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と、シェルの </a:t>
            </a:r>
            <a:pPr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2&gt;</a:t>
            </a:r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は同じ2番</a:t>
            </a:r>
            <a:endParaRPr lang="ja-JP" altLang="en-US" sz="160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端末のときは ttyname が /dev/pts/0 を返す ── 先週の /dev/tty と同じ世界のもの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F6B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C-1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直すのは、3か所だけ</a:t>
            </a:r>
            <a:endParaRPr lang="ja-JP" altLang="en-US" sz="3400" dirty="0"/>
          </a:p>
        </p:txBody>
      </p:sp>
      <p:sp>
        <p:nvSpPr>
          <p:cNvPr id="5" name="codepanel"/>
          <p:cNvSpPr/>
          <p:nvPr/>
        </p:nvSpPr>
        <p:spPr>
          <a:xfrm>
            <a:off x="548640" y="1143000"/>
            <a:ext cx="11064240" cy="2466137"/>
          </a:xfrm>
          <a:prstGeom prst="roundRect">
            <a:avLst>
              <a:gd name="adj" fmla="val 2966"/>
            </a:avLst>
          </a:prstGeom>
          <a:solidFill>
            <a:srgbClr val="1C2027"/>
          </a:solidFill>
          <a:ln w="12700">
            <a:solidFill>
              <a:srgbClr val="1C202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89304"/>
            <a:ext cx="10661904" cy="217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#include &lt;stdio.h&gt;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#include &lt;unistd.h&gt;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     ← 変更1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if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(isatty(1)) {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     ← 変更2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printf(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"\033[1;36m======================\033[m\n"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printf(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  行数 : \033[1;32m%ld\033[m 行\n"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, lines);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} 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else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{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printf(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"%ld\n"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, lines);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← 変更3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}</a:t>
            </a:r>
            <a:endParaRPr lang="ja-JP" alt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883457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DF0D4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4066337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手を動かす前に、説明する</a:t>
            </a:r>
            <a:endParaRPr lang="ja-JP" alt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77817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4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 (isatty(1)) { まで書けば、あとは機械的に埋まる。
</a:t>
            </a:r>
            <a:pPr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5A4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埋める前に、なぜ else 側で色を消すのかを隣の人に説明する。</a:t>
            </a:r>
            <a:endParaRPr lang="ja-JP" altLang="en-US" sz="160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説明できないまま書き写した場合、今日の90分は失われている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F6B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C-2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直ったことを確認する</a:t>
            </a:r>
            <a:endParaRPr lang="ja-JP" altLang="en-US" sz="3400" dirty="0"/>
          </a:p>
        </p:txBody>
      </p:sp>
      <p:sp>
        <p:nvSpPr>
          <p:cNvPr id="5" name="codepanel"/>
          <p:cNvSpPr/>
          <p:nvPr/>
        </p:nvSpPr>
        <p:spPr>
          <a:xfrm>
            <a:off x="548640" y="1143000"/>
            <a:ext cx="11064240" cy="2191512"/>
          </a:xfrm>
          <a:prstGeom prst="roundRect">
            <a:avLst>
              <a:gd name="adj" fmla="val 3338"/>
            </a:avLst>
          </a:prstGeom>
          <a:solidFill>
            <a:srgbClr val="1C2027"/>
          </a:solidFill>
          <a:ln w="12700">
            <a:solidFill>
              <a:srgbClr val="1C202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89304"/>
            <a:ext cx="10661904" cy="189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./mywc02 &lt; numbers.txt      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端末：飾りが出る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./mywc02 &lt; numbers.txt | cat -A  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パイプ：200$ だけ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N=$(./mywc02 &lt; numbers.txt)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echo $((N * 2))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400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ls /usr/bin | ./mywc02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$ ls /usr/bin | wc -l         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本物と一致するか</a:t>
            </a:r>
            <a:endParaRPr lang="ja-JP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608832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3F5F2"/>
          </a:solidFill>
          <a:ln w="25400">
            <a:solidFill>
              <a:srgbClr val="0F6B6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791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 が出た</a:t>
            </a:r>
            <a:pPr indent="0" marL="0">
              <a:buNone/>
            </a:pPr>
            <a:r>
              <a:rPr lang="ja-JP" altLang="en-US" sz="1600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→ 今日の到達点</a:t>
            </a:r>
            <a:endParaRPr lang="ja-JP" alt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3608832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77342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400" b="1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一致しない</a:t>
            </a:r>
            <a:pPr indent="0" marL="0">
              <a:lnSpc>
                <a:spcPct val="125000"/>
              </a:lnSpc>
              <a:buNone/>
            </a:pPr>
            <a:r>
              <a:rPr lang="ja-JP" altLang="en-US" sz="14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→ 別のファイルを数えているか、打ち間違い。</a:t>
            </a:r>
            <a:endParaRPr lang="ja-JP" alt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4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どちらも改行の数を数えるので、同じファイルなら必ず一致する</a:t>
            </a:r>
            <a:endParaRPr lang="ja-JP" alt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0901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8A3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51816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 Stage A-3 のページを見返す。</a:t>
            </a:r>
            <a:pPr indent="0" marL="0">
              <a:buNone/>
            </a:pPr>
            <a:r>
              <a:rPr lang="ja-JP" altLang="en-US" sz="17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最初の仮説は当たっていたか。</a:t>
            </a:r>
            <a:endParaRPr lang="ja-JP" alt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F6B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C-3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直したから、部品として使える</a:t>
            </a:r>
            <a:endParaRPr lang="ja-JP" altLang="en-US" sz="3400" dirty="0"/>
          </a:p>
        </p:txBody>
      </p:sp>
      <p:sp>
        <p:nvSpPr>
          <p:cNvPr id="5" name="codepanel"/>
          <p:cNvSpPr/>
          <p:nvPr/>
        </p:nvSpPr>
        <p:spPr>
          <a:xfrm>
            <a:off x="548640" y="1143000"/>
            <a:ext cx="11064240" cy="1490269"/>
          </a:xfrm>
          <a:prstGeom prst="roundRect">
            <a:avLst>
              <a:gd name="adj" fmla="val 4909"/>
            </a:avLst>
          </a:prstGeom>
          <a:solidFill>
            <a:srgbClr val="1C2027"/>
          </a:solidFill>
          <a:ln w="12700">
            <a:solidFill>
              <a:srgbClr val="1C202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289304"/>
            <a:ext cx="10661904" cy="1197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#!/bin/bash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count.sh : ファイルの行数を数えて、報告する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n=$(./mywc02 &lt; "$1")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echo "$1 は $n 行あります"</a:t>
            </a:r>
            <a:endParaRPr lang="ja-JP" alt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907589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E3F5F2"/>
          </a:solidFill>
          <a:ln w="25400">
            <a:solidFill>
              <a:srgbClr val="0F6B6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90469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0F6B6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./count.sh numbers.txt</a:t>
            </a:r>
            <a:endParaRPr lang="ja-JP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37941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numbers.txt は 200 行あります</a:t>
            </a:r>
            <a:endParaRPr lang="ja-JP" alt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2907589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AE5DD"/>
          </a:solidFill>
          <a:ln w="25400">
            <a:solidFill>
              <a:srgbClr val="BE3E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090469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mywc02 を mywc01 に戻すと</a:t>
            </a:r>
            <a:endParaRPr lang="ja-JP" alt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437941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報告が壊れる</a:t>
            </a:r>
            <a:endParaRPr lang="ja-JP" alt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324909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飾ったままでは、部品にできない。</a:t>
            </a:r>
            <a:endParaRPr lang="ja-JP" altLang="en-US" sz="26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chmod +x の x は、先週の宿題で調べた drwxr-xr-x の x ── 読むものが、自分で付けるものになった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15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伽藍とバザール ／ 教訓 15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3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データの流れに手を加えるのは最小限に。</a:t>
            </a:r>
            <a:endParaRPr lang="ja-JP" altLang="en-US" sz="34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3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受け手がどうしてもと言わない限り、情報を捨てない。</a:t>
            </a:r>
            <a:endParaRPr lang="ja-JP" alt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01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Eric S. Raymond『伽藍とバザール』（山形浩生 訳）の教訓15の要旨</a:t>
            </a:r>
            <a:endParaRPr lang="ja-JP" alt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3931920"/>
            <a:ext cx="3535680" cy="1463040"/>
          </a:xfrm>
          <a:prstGeom prst="roundRect">
            <a:avLst>
              <a:gd name="adj" fmla="val 437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114800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色の装飾は、</a:t>
            </a:r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データの流れへの干渉</a:t>
            </a:r>
            <a:endParaRPr lang="ja-JP" altLang="en-US" sz="1550" dirty="0"/>
          </a:p>
        </p:txBody>
      </p:sp>
      <p:sp>
        <p:nvSpPr>
          <p:cNvPr id="8" name="card"/>
          <p:cNvSpPr/>
          <p:nvPr/>
        </p:nvSpPr>
        <p:spPr>
          <a:xfrm>
            <a:off x="4312920" y="3931920"/>
            <a:ext cx="3535680" cy="1463040"/>
          </a:xfrm>
          <a:prstGeom prst="roundRect">
            <a:avLst>
              <a:gd name="adj" fmla="val 437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14088" y="4114800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人間には便利。</a:t>
            </a:r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機械にはゴミ</a:t>
            </a:r>
            <a:endParaRPr lang="ja-JP" altLang="en-US" sz="1550" dirty="0"/>
          </a:p>
        </p:txBody>
      </p:sp>
      <p:sp>
        <p:nvSpPr>
          <p:cNvPr id="10" name="card"/>
          <p:cNvSpPr/>
          <p:nvPr/>
        </p:nvSpPr>
        <p:spPr>
          <a:xfrm>
            <a:off x="8077200" y="3931920"/>
            <a:ext cx="3535680" cy="1463040"/>
          </a:xfrm>
          <a:prstGeom prst="roundRect">
            <a:avLst>
              <a:gd name="adj" fmla="val 437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8368" y="4114800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 ls は、</a:t>
            </a:r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人間でないと分かった瞬間に干渉をやめる</a:t>
            </a:r>
            <a:endParaRPr lang="ja-JP" alt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50年壊れていない、たった1つのデータ構造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4447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伽藍とバザール ／ 教訓 9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17556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賢いデータ構造と間抜けなコードのほうが、その逆よりずっとまし。</a:t>
            </a:r>
            <a:endParaRPr lang="ja-JP" alt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402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Eric S. Raymond『伽藍とバザール』（山形浩生 訳）</a:t>
            </a:r>
            <a:endParaRPr lang="ja-JP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7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Unixの何百というコマンドが共有している「賢いデータ構造」は、</a:t>
            </a:r>
            <a:pPr indent="0" marL="0">
              <a:lnSpc>
                <a:spcPct val="130000"/>
              </a:lnSpc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改行で区切られたテキスト</a:t>
            </a:r>
            <a:pPr indent="0" marL="0">
              <a:lnSpc>
                <a:spcPct val="130000"/>
              </a:lnSpc>
              <a:buNone/>
            </a:pPr>
            <a:r>
              <a:rPr lang="ja-JP" altLang="en-US" sz="17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、ただ1つ。</a:t>
            </a:r>
            <a:endParaRPr lang="ja-JP" alt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7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飾りを混ぜるとは、この共有財産を壊すということ。</a:t>
            </a:r>
            <a:endParaRPr lang="ja-JP" alt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11064240" cy="1874520"/>
          </a:xfrm>
          <a:prstGeom prst="roundRect">
            <a:avLst>
              <a:gd name="adj" fmla="val 3415"/>
            </a:avLst>
          </a:prstGeom>
          <a:solidFill>
            <a:srgbClr val="1C20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37764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伽藍とバザール ／ 教訓 2</a:t>
            </a:r>
            <a:endParaRPr lang="ja-JP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069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「何を書けばいいかわかってるのがよいプログラマ。</a:t>
            </a:r>
            <a:endParaRPr lang="ja-JP" alt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なにを書き直せば（そして使い回せば）いいかわかってるのが、すごいプログラマ」</a:t>
            </a:r>
            <a:endParaRPr lang="ja-JP" alt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7365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そして「すごいプログラマの大事な特徴の一つが、建設的な面倒くさがり」。</a:t>
            </a:r>
            <a:endParaRPr lang="ja-JP" alt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08406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今日のはじめに渡した </a:t>
            </a:r>
            <a:pPr indent="0" marL="0">
              <a:buNone/>
            </a:pPr>
            <a:r>
              <a:rPr lang="ja-JP" altLang="en-US" sz="15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「書く前に、15秒」</a:t>
            </a:r>
            <a:pPr indent="0" marL="0"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は、この教訓のことです。</a:t>
            </a:r>
            <a:endParaRPr lang="ja-JP" altLang="en-US" sz="15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sort を自作する人はいない ── パイプは「書かずに済ませる」ための技術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振り返りシートに書く（最後の15分）</a:t>
            </a:r>
            <a:endParaRPr lang="ja-JP" altLang="en-US" sz="30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149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書くこと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スライド Stage A-3 に書いた仮説は当たっていたか（○ か × の1文字）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8A3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8A3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ls は何を見て色を出し分けているのか、を1文で　← 今日の本命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まだ分かっていないことを1つ（空欄禁止）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E6EAF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他の人の E列 に答える（自分の番号の前後5人ぶんだけ読む）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337560"/>
            <a:ext cx="3535680" cy="1005840"/>
          </a:xfrm>
          <a:prstGeom prst="roundRect">
            <a:avLst>
              <a:gd name="adj" fmla="val 5455"/>
            </a:avLst>
          </a:prstGeom>
          <a:solidFill>
            <a:srgbClr val="0F3833"/>
          </a:solidFill>
          <a:ln w="19050">
            <a:solidFill>
              <a:srgbClr val="4FC3B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49808" y="3474720"/>
            <a:ext cx="313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</a:t>
            </a:r>
            <a:endParaRPr lang="ja-JP" altLang="en-US" sz="1550" dirty="0"/>
          </a:p>
        </p:txBody>
      </p:sp>
      <p:sp>
        <p:nvSpPr>
          <p:cNvPr id="7" name="Text 3"/>
          <p:cNvSpPr txBox="1"/>
          <p:nvPr/>
        </p:nvSpPr>
        <p:spPr>
          <a:xfrm>
            <a:off x="749808" y="3776472"/>
            <a:ext cx="3133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400" dirty="0">
                <a:solidFill>
                  <a:srgbClr val="BFE8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自分の1番が端末かどうかを見ている</a:t>
            </a:r>
            <a:endParaRPr lang="ja-JP" alt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312920" y="3337560"/>
            <a:ext cx="3535680" cy="1005840"/>
          </a:xfrm>
          <a:prstGeom prst="roundRect">
            <a:avLst>
              <a:gd name="adj" fmla="val 5455"/>
            </a:avLst>
          </a:prstGeom>
          <a:solidFill>
            <a:srgbClr val="3A2D0C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14088" y="3474720"/>
            <a:ext cx="313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惜しい</a:t>
            </a:r>
            <a:endParaRPr lang="ja-JP" alt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4514088" y="3776472"/>
            <a:ext cx="3133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400" dirty="0">
                <a:solidFill>
                  <a:srgbClr val="F2E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パイプかどうかを見ている（逆向き）</a:t>
            </a:r>
            <a:endParaRPr lang="ja-JP" alt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77200" y="3337560"/>
            <a:ext cx="3535680" cy="1005840"/>
          </a:xfrm>
          <a:prstGeom prst="roundRect">
            <a:avLst>
              <a:gd name="adj" fmla="val 5455"/>
            </a:avLst>
          </a:prstGeom>
          <a:solidFill>
            <a:srgbClr val="3A1A10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78368" y="3474720"/>
            <a:ext cx="313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不合格</a:t>
            </a:r>
            <a:endParaRPr lang="ja-JP" alt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8278368" y="3776472"/>
            <a:ext cx="3133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400" dirty="0">
                <a:solidFill>
                  <a:srgbClr val="F2C7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 が色を消している（主語が違う）</a:t>
            </a:r>
            <a:endParaRPr lang="ja-JP" altLang="en-US" sz="14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答えの出ていない E列 は、次週の冒頭に持ち越す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宿題</a:t>
            </a:r>
            <a:endParaRPr lang="ja-JP" alt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5394960" cy="82296"/>
          </a:xfrm>
          <a:prstGeom prst="rect">
            <a:avLst/>
          </a:prstGeom>
          <a:solidFill>
            <a:srgbClr val="0F6B6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F6B6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A ／ 必須 ・ 40分程度</a:t>
            </a:r>
            <a:endParaRPr lang="ja-JP" alt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8470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6章のフィルタ1周とスクリプト1本</a:t>
            </a:r>
            <a:endParaRPr lang="ja-JP" alt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cat・head・tail・grep・sort・uniq・cut・tr・wc と、&gt; &gt;&gt; 2&gt; &lt; を一通り打つ（script でログを残す）
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report.sh</a:t>
            </a:r>
            <a:pPr indent="0" marL="0">
              <a:lnSpc>
                <a:spcPct val="14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を1本：引数のファイルの行数と、いちばん多い単語をパイプラインで出す</a:t>
            </a:r>
            <a:endParaRPr lang="ja-JP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159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各段が何をしているかのコメントが採点対象。コメントの無いスクリプトは、動いていても0点。</a:t>
            </a:r>
            <a:endParaRPr lang="ja-JP" alt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17920" y="12801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280160"/>
            <a:ext cx="5394960" cy="8229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課題 B ／ 発展 ・ 答えが出なくてよい</a:t>
            </a:r>
            <a:endParaRPr lang="ja-JP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18470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知りようがないことに、ぶつかる</a:t>
            </a:r>
            <a:endParaRPr lang="ja-JP" alt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395728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./mywc02 &lt; numbers.txt | cat では isatty(1) は 0 を返す。</a:t>
            </a:r>
            <a:pPr indent="0" marL="0">
              <a:lnSpc>
                <a:spcPct val="15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でも最終的には人間が画面で見ている。
</a:t>
            </a:r>
            <a:pPr indent="0" marL="0">
              <a:lnSpc>
                <a:spcPct val="15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mywc02 から「最終的に人間が見るか」を知る方法はあるか。</a:t>
            </a:r>
            <a:pPr indent="0" marL="0">
              <a:lnSpc>
                <a:spcPct val="150000"/>
              </a:lnSpc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無いなら、なぜ無いのかを3行で。それが正解。</a:t>
            </a:r>
            <a:endParaRPr lang="ja-JP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480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先週の課題B（パイプでは全体の行数が分からない）と同じ形の壁</a:t>
            </a:r>
            <a:endParaRPr lang="ja-JP" altLang="en-US" sz="1450" dirty="0"/>
          </a:p>
        </p:txBody>
      </p:sp>
      <p:sp>
        <p:nvSpPr>
          <p:cNvPr id="1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提出：eclass ／ syspro_w03_学籍番号.docx ／ 雛形の見出しをそのまま使う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今日の1文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3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プログラムは、自分のつなぎ先を知らない。</a:t>
            </a:r>
            <a:endParaRPr lang="ja-JP" altLang="en-US" sz="36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3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しかし、カーネルに聞けば教えてもらえる。</a:t>
            </a:r>
            <a:endParaRPr lang="ja-JP" alt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78892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3063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9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先週の more01 は聞かなかった。今日の mywc01 も聞かなかった。
</a:t>
            </a:r>
            <a:pPr indent="0" marL="0">
              <a:lnSpc>
                <a:spcPct val="14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 ls は、聞いていた。</a:t>
            </a:r>
            <a:pPr indent="0" marL="0">
              <a:lnSpc>
                <a:spcPct val="140000"/>
              </a:lnSpc>
              <a:buNone/>
            </a:pPr>
            <a:r>
              <a:rPr lang="ja-JP" altLang="en-US" sz="19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違いは、それだけ。</a:t>
            </a:r>
            <a:endParaRPr lang="ja-JP" altLang="en-US" sz="1900" dirty="0"/>
          </a:p>
        </p:txBody>
      </p:sp>
      <p:sp>
        <p:nvSpPr>
          <p:cNvPr id="7" name="card"/>
          <p:cNvSpPr/>
          <p:nvPr/>
        </p:nvSpPr>
        <p:spPr>
          <a:xfrm>
            <a:off x="548640" y="420624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370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第4回</a:t>
            </a:r>
            <a:endParaRPr lang="ja-JP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64515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システムコール入門 open / read / write / close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isatty は、誰に、どうやって聞いていたのか</a:t>
            </a:r>
            <a:endParaRPr lang="ja-JP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217920" y="420624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4370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第5回以降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464515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ファイル属性・ディレクトリ・プロセス・シグナル
</a:t>
            </a:r>
            <a:pPr indent="0" marL="0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課題Bの壁と、ttyname が返した /dev/pts/0</a:t>
            </a:r>
            <a:endParaRPr lang="ja-JP" alt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第3週目 標準入出力とパイプ</dc:title>
  <dc:subject>PptxGenJS Presentation</dc:subject>
  <dc:creator>Takahiro Koita</dc:creator>
  <cp:lastModifiedBy>Takahiro Koita</cp:lastModifiedBy>
  <cp:revision>1</cp:revision>
  <dcterms:created xsi:type="dcterms:W3CDTF">2026-10-18T10:14:35Z</dcterms:created>
  <dcterms:modified xsi:type="dcterms:W3CDTF">2026-10-18T10:14:35Z</dcterms:modified>
</cp:coreProperties>
</file>